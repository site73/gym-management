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5715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3500" y="571500"/>
            <a:ext cx="9525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3D7BD9"/>
                </a:solidFill>
                <a:latin typeface="Microsoft YaHei"/>
              </a:rPr>
              <a:t>课程大作业答辩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990600"/>
            <a:ext cx="11049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5400" b="1">
                <a:solidFill>
                  <a:srgbClr val="0E3F8C"/>
                </a:solidFill>
                <a:latin typeface="Microsoft YaHei"/>
              </a:rPr>
              <a:t>健身房运营管理系统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00250"/>
            <a:ext cx="11049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50" b="0">
                <a:solidFill>
                  <a:srgbClr val="4A5568"/>
                </a:solidFill>
                <a:latin typeface="Microsoft YaHei"/>
              </a:rPr>
              <a:t>Gym Operation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8750" y="2609850"/>
            <a:ext cx="17145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19400"/>
            <a:ext cx="9525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25" b="0">
                <a:solidFill>
                  <a:srgbClr val="1A2230"/>
                </a:solidFill>
                <a:latin typeface="Microsoft YaHei"/>
              </a:rPr>
              <a:t>从业务梳理到可运行系统：需求可追溯 · 系统可运行 · 质量可复现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67250"/>
            <a:ext cx="12192000" cy="219075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0" y="5029200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汇报人：＿＿＿＿＿＿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5029200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学号：＿＿＿＿＿＿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0" y="5486400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指导教师：＿＿＿＿＿＿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5486400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日期：2026 年 10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609600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技术栈：Spring Boot 3 · MySQL 8.0 · 174 项自动化检查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81250"/>
            <a:ext cx="2762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405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48000"/>
            <a:ext cx="27622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BFD3F0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48050"/>
            <a:ext cx="838200" cy="38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95700"/>
            <a:ext cx="27813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25" b="0">
                <a:solidFill>
                  <a:srgbClr val="BFD3F0"/>
                </a:solidFill>
                <a:latin typeface="Microsoft YaHei"/>
              </a:rPr>
              <a:t>五个部分，从业务理解一路讲到测试证据与后续规划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6700" y="1152525"/>
            <a:ext cx="7734300" cy="819150"/>
          </a:xfrm>
          <a:prstGeom prst="roundRect">
            <a:avLst>
              <a:gd name="adj" fmla="val 1162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67200" y="13430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200" y="1343025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5850" y="1285875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1">
                <a:solidFill>
                  <a:srgbClr val="0E3F8C"/>
                </a:solidFill>
                <a:latin typeface="Microsoft YaHei"/>
              </a:rPr>
              <a:t>业务理解与需求分析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5850" y="1609725"/>
            <a:ext cx="666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业务定位 → 业务基线 → 流程优化 → 需求追溯（第 3–6 页）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76700" y="2105025"/>
            <a:ext cx="7734300" cy="819150"/>
          </a:xfrm>
          <a:prstGeom prst="roundRect">
            <a:avLst>
              <a:gd name="adj" fmla="val 11627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67200" y="22955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7200" y="2295525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5850" y="2238375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1">
                <a:solidFill>
                  <a:srgbClr val="0E3F8C"/>
                </a:solidFill>
                <a:latin typeface="Microsoft YaHei"/>
              </a:rPr>
              <a:t>系统设计与架构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5850" y="2562225"/>
            <a:ext cx="666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模块边界 → 数据设计 → 工程环境（第 7–10 页）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76700" y="3057525"/>
            <a:ext cx="7734300" cy="819150"/>
          </a:xfrm>
          <a:prstGeom prst="roundRect">
            <a:avLst>
              <a:gd name="adj" fmla="val 11627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67200" y="32480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7200" y="3248025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5850" y="3190875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1">
                <a:solidFill>
                  <a:srgbClr val="0E3F8C"/>
                </a:solidFill>
                <a:latin typeface="Microsoft YaHei"/>
              </a:rPr>
              <a:t>关键实现与业务规则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5850" y="3514725"/>
            <a:ext cx="666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规则外置 → 角色鉴权 → 约课主链路 → 两项创新点（第 11–16 页）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76700" y="4010025"/>
            <a:ext cx="7734300" cy="819150"/>
          </a:xfrm>
          <a:prstGeom prst="roundRect">
            <a:avLst>
              <a:gd name="adj" fmla="val 11627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67200" y="42005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7200" y="4200525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5850" y="4143375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1">
                <a:solidFill>
                  <a:srgbClr val="0E3F8C"/>
                </a:solidFill>
                <a:latin typeface="Microsoft YaHei"/>
              </a:rPr>
              <a:t>质量保障与测试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5850" y="4467225"/>
            <a:ext cx="666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六层 174 项检查 → 缺陷根因与修复（第 17–19 页）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76700" y="4962525"/>
            <a:ext cx="7734300" cy="819150"/>
          </a:xfrm>
          <a:prstGeom prst="roundRect">
            <a:avLst>
              <a:gd name="adj" fmla="val 11627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67200" y="51530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7200" y="5153025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5850" y="5095875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1">
                <a:solidFill>
                  <a:srgbClr val="0E3F8C"/>
                </a:solidFill>
                <a:latin typeface="Microsoft YaHei"/>
              </a:rPr>
              <a:t>总结与展望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5850" y="5419725"/>
            <a:ext cx="666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已完成 / 未完成 / 下一步（第 20–21 页）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8250"/>
            <a:ext cx="12192000" cy="304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0" b="1">
                <a:solidFill>
                  <a:srgbClr val="E8EFF8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286000"/>
            <a:ext cx="952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3D7BD9"/>
                </a:solidFill>
                <a:latin typeface="Microsoft YaHei"/>
              </a:rPr>
              <a:t>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686050"/>
            <a:ext cx="9525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50" b="1">
                <a:solidFill>
                  <a:srgbClr val="0E3F8C"/>
                </a:solidFill>
                <a:latin typeface="Microsoft YaHei"/>
              </a:rPr>
              <a:t>业务理解与需求分析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600450"/>
            <a:ext cx="11430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4500" y="381000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75" b="0">
                <a:solidFill>
                  <a:srgbClr val="4A5568"/>
                </a:solidFill>
                <a:latin typeface="Microsoft YaHei"/>
              </a:rPr>
              <a:t>先回答"这家健身房是怎么运转的"，再回答"系统要做什么"——需求来自业务基线，而不是功能清单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860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60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业务定位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06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06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业务基线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270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270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流程梳理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47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47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需求追溯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03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为什么要重做这套系统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028700"/>
            <a:ext cx="6858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E3F8C"/>
                </a:solidFill>
                <a:latin typeface="Microsoft YaHei"/>
              </a:rPr>
              <a:t>门店里真实存在的四类麻烦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447800"/>
            <a:ext cx="6858000" cy="838200"/>
          </a:xfrm>
          <a:prstGeom prst="roundRect">
            <a:avLst>
              <a:gd name="adj" fmla="val 1136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400" y="17335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450" y="1447800"/>
            <a:ext cx="61531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>
                <a:solidFill>
                  <a:srgbClr val="1A2230"/>
                </a:solidFill>
                <a:latin typeface="Microsoft YaHei"/>
              </a:rPr>
              <a:t>排课靠电话和微信群：高峰期漏记、重复记，改一次课要通知一圈人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2381250"/>
            <a:ext cx="6858000" cy="838200"/>
          </a:xfrm>
          <a:prstGeom prst="roundRect">
            <a:avLst>
              <a:gd name="adj" fmla="val 1136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3400" y="26670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381250"/>
            <a:ext cx="61531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>
                <a:solidFill>
                  <a:srgbClr val="1A2230"/>
                </a:solidFill>
                <a:latin typeface="Microsoft YaHei"/>
              </a:rPr>
              <a:t>爽约没有任何代价：名额被占着不来，真正想练的人反而约不上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3314700"/>
            <a:ext cx="6858000" cy="838200"/>
          </a:xfrm>
          <a:prstGeom prst="roundRect">
            <a:avLst>
              <a:gd name="adj" fmla="val 1136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3400" y="36004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450" y="3314700"/>
            <a:ext cx="61531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>
                <a:solidFill>
                  <a:srgbClr val="1A2230"/>
                </a:solidFill>
                <a:latin typeface="Microsoft YaHei"/>
              </a:rPr>
              <a:t>会籍到期没人盯：续费全靠店员记性，会员流失了才被发现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4248150"/>
            <a:ext cx="6858000" cy="838200"/>
          </a:xfrm>
          <a:prstGeom prst="roundRect">
            <a:avLst>
              <a:gd name="adj" fmla="val 1136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3400" y="4533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450" y="4248150"/>
            <a:ext cx="61531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>
                <a:solidFill>
                  <a:srgbClr val="1A2230"/>
                </a:solidFill>
                <a:latin typeface="Microsoft YaHei"/>
              </a:rPr>
              <a:t>课消与收费对不上：月底靠 Excel 手工核，差错出现后无法追溯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9500" y="1028700"/>
            <a:ext cx="4381500" cy="190500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1219200"/>
            <a:ext cx="39624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E3F8C"/>
                </a:solidFill>
                <a:latin typeface="Microsoft YaHei"/>
              </a:rPr>
              <a:t>共同缺口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9050" y="161925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50" b="0">
                <a:solidFill>
                  <a:srgbClr val="1A2230"/>
                </a:solidFill>
                <a:latin typeface="Microsoft YaHei"/>
              </a:rPr>
              <a:t>四件事各自记录、彼此不通：约课、签到、课消、收费之间没有闭环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0" y="3048000"/>
            <a:ext cx="4381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9050" y="3238500"/>
            <a:ext cx="39624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E3F8C"/>
                </a:solidFill>
                <a:latin typeface="Microsoft YaHei"/>
              </a:rPr>
              <a:t>所以目标不是"做个 App"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9050" y="363855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50" b="0">
                <a:solidFill>
                  <a:srgbClr val="4A5568"/>
                </a:solidFill>
                <a:latin typeface="Microsoft YaHei"/>
              </a:rPr>
              <a:t>而是把 预约 → 到场 → 课消 → 收费 串成一条可查、可约束、可预警的链路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5295900"/>
            <a:ext cx="11430000" cy="704850"/>
          </a:xfrm>
          <a:prstGeom prst="roundRect">
            <a:avLst>
              <a:gd name="adj" fmla="val 1081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1000" y="5295900"/>
            <a:ext cx="38100" cy="7048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400" y="5295900"/>
            <a:ext cx="9144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4950" y="5295900"/>
            <a:ext cx="101346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要先补齐"约课与课消之间的闭环"，而不是先堆功能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来源：业务分析报告 · 业务基线 V1.0（项目真实文档）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04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90550"/>
            <a:ext cx="590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D7BD9"/>
                </a:solidFill>
                <a:latin typeface="Microsoft YaHei"/>
              </a:rPr>
              <a:t>业务理解方法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05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0E3F8C"/>
                </a:solidFill>
                <a:latin typeface="Microsoft YaHei"/>
              </a:rPr>
              <a:t>先把业务讲清楚，再谈系统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2100"/>
            <a:ext cx="9525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52600"/>
            <a:ext cx="58293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50" b="0">
                <a:solidFill>
                  <a:srgbClr val="1A2230"/>
                </a:solidFill>
                <a:latin typeface="Microsoft YaHei"/>
              </a:rPr>
              <a:t>我们没有一上来就列功能，而是先做业务定位：明确这家健身房靠什么赚钱、会员从进门到上课要经过哪些环节。随后把现状写成业务基线（V0.1 → 确认版 V1.0），再用流程优化说明找出"哪些环节该由系统承接、哪些仍由人来做"，最后才产出需求。这样做的好处很直接——每一条需求都能回答"它来自哪个业务环节"。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52900"/>
            <a:ext cx="1314450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52900"/>
            <a:ext cx="1314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</a:rPr>
              <a:t>① 业务定位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6900" y="4152900"/>
            <a:ext cx="1314450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6900" y="4152900"/>
            <a:ext cx="1314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</a:rPr>
              <a:t>② 业务基线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4152900"/>
            <a:ext cx="1314450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6600" y="4152900"/>
            <a:ext cx="1314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</a:rPr>
              <a:t>③ 流程优化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6300" y="4152900"/>
            <a:ext cx="1314450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6300" y="4152900"/>
            <a:ext cx="1314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</a:rPr>
              <a:t>④ 人机分工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62500"/>
            <a:ext cx="58293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62500"/>
            <a:ext cx="381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762500"/>
            <a:ext cx="9144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150" y="4762500"/>
            <a:ext cx="45339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先有业务基线，再有需求；需求再向下追溯到规则与测试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500" y="0"/>
            <a:ext cx="5524500" cy="62103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b0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873" y="266700"/>
            <a:ext cx="4311754" cy="5429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67500" y="5829300"/>
            <a:ext cx="5524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图：B0 总体业务流程图（项目真实产出）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来源：业务基线 V1.0 · 业务流程优化说明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05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需求不是清单，是可追溯的链条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1066800"/>
          <a:ext cx="11430000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0"/>
                <a:gridCol w="1809750"/>
                <a:gridCol w="2857500"/>
                <a:gridCol w="3143250"/>
              </a:tblGrid>
              <a:tr h="50618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业务目标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系统需求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关键规则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验收测试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</a:tr>
              <a:tr h="50618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会员只能约有效会籍的课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REQ-B4-001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SYS-R1 / SYS-R2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booking.feature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50618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课程不满员且无时间冲突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REQ-B4-001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SYS-R3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booking.feature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</a:tr>
              <a:tr h="50618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约课取消必须释放名额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REQ-B4-002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SYS-R3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attendance.feature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50618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累计爽约要有限制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REQ-B4-003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SYS-R4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attendance.feature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</a:tr>
              <a:tr h="50618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会籍到期要有人提醒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REQ-B5-003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SYS-R6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membership.feature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50619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流失与爽约要能预警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REQ-B4-006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SYS-R7 / R8 / R9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warning.feature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81000" y="4876800"/>
            <a:ext cx="11430000" cy="704850"/>
          </a:xfrm>
          <a:prstGeom prst="roundRect">
            <a:avLst>
              <a:gd name="adj" fmla="val 1081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4876800"/>
            <a:ext cx="38100" cy="7048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876800"/>
            <a:ext cx="9144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作用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4876800"/>
            <a:ext cx="101346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任一需求都能回答三件事：为什么做、由哪条规则约束、用哪个用例验收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来源：业务—系统需求追溯矩阵 · 关键规则—需求—测试溯源表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06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8250"/>
            <a:ext cx="12192000" cy="304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0" b="1">
                <a:solidFill>
                  <a:srgbClr val="E8EFF8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286000"/>
            <a:ext cx="952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3D7BD9"/>
                </a:solidFill>
                <a:latin typeface="Microsoft YaHei"/>
              </a:rP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686050"/>
            <a:ext cx="9525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50" b="1">
                <a:solidFill>
                  <a:srgbClr val="0E3F8C"/>
                </a:solidFill>
                <a:latin typeface="Microsoft YaHei"/>
              </a:rPr>
              <a:t>系统设计与架构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600450"/>
            <a:ext cx="11430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5000" y="38100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75" b="0">
                <a:solidFill>
                  <a:srgbClr val="4A5568"/>
                </a:solidFill>
                <a:latin typeface="Microsoft YaHei"/>
              </a:rPr>
              <a:t>把业务规则放进确定的模块边界里：每一层只依赖契约，不依赖实现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860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60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模块边界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06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06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接口契约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270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270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数据设计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47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47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工程环境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07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28600"/>
            <a:ext cx="78105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3F8C"/>
                </a:solidFill>
                <a:latin typeface="Microsoft YaHei"/>
              </a:rPr>
              <a:t>12 个模块，靠契约而不是靠自觉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1500" y="247650"/>
            <a:ext cx="3619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02 系统设计与架构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70485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00" y="914400"/>
            <a:ext cx="6477000" cy="462915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88" y="1047750"/>
            <a:ext cx="5931625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5162550"/>
            <a:ext cx="647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图：系统架构图（项目真实产出）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4700" y="914400"/>
            <a:ext cx="46863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E3F8C"/>
                </a:solidFill>
                <a:latin typeface="Microsoft YaHei"/>
              </a:rPr>
              <a:t>模块划分（com.gym.*）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24700" y="131445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19950" y="131445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identity 身份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5950" y="131445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31445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membership 会籍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24700" y="171450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9950" y="171450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course 课程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5950" y="171450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71450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booking 约课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24700" y="211455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9950" y="211455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payment 收费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5950" y="211455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11455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warning 预警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4700" y="251460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9950" y="251460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report 报表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5950" y="251460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51460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assessment 业绩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24700" y="291465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19950" y="291465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equipment 设备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5950" y="291465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291465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system 系统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24700" y="331470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9950" y="331470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shared 共享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5950" y="331470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314700"/>
            <a:ext cx="20764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E4FA8"/>
                </a:solidFill>
                <a:latin typeface="Microsoft YaHei"/>
              </a:rPr>
              <a:t>app 启动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4700" y="3829050"/>
            <a:ext cx="46863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75" b="0">
                <a:solidFill>
                  <a:srgbClr val="1A2230"/>
                </a:solidFill>
                <a:latin typeface="Microsoft YaHei"/>
              </a:rPr>
              <a:t>每个模块只暴露 api 包下的契约接口，internal 包对外不可见；跨模块调用一律走契约，禁止直连对方数据表。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24700" y="5029200"/>
            <a:ext cx="4686300" cy="514350"/>
          </a:xfrm>
          <a:prstGeom prst="roundRect">
            <a:avLst>
              <a:gd name="adj" fmla="val 14814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24700" y="5029200"/>
            <a:ext cx="38100" cy="5143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7100" y="5029200"/>
            <a:ext cx="9144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守边界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8650" y="50292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模块边界不靠代码评审守，靠自动化架构测试守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来源：系统结构设计说明 · 代码结构与模块划分说明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08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26 张表与 12 次迁移收敛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pic>
        <p:nvPicPr>
          <p:cNvPr id="5" name="Picture 4" descr="db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988" y="1219200"/>
            <a:ext cx="6462024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43250" y="529590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图：数据库表结构总览（项目真实产出）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000" y="1219200"/>
            <a:ext cx="2286000" cy="190500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1428750"/>
            <a:ext cx="1943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650" b="1">
                <a:solidFill>
                  <a:srgbClr val="0E3F8C"/>
                </a:solidFill>
                <a:latin typeface="Microsoft YaHe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2228850"/>
            <a:ext cx="1943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0">
                <a:solidFill>
                  <a:srgbClr val="1A2230"/>
                </a:solidFill>
                <a:latin typeface="Microsoft YaHei"/>
              </a:rPr>
              <a:t>张数据表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2552700"/>
            <a:ext cx="1943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覆盖会籍 / 约课 / 收费 / 预警 / 设备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3314700"/>
            <a:ext cx="2286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450" y="3524250"/>
            <a:ext cx="1943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650" b="1">
                <a:solidFill>
                  <a:srgbClr val="1E4FA8"/>
                </a:solidFill>
                <a:latin typeface="Microsoft YaHe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4324350"/>
            <a:ext cx="1943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0">
                <a:solidFill>
                  <a:srgbClr val="1A2230"/>
                </a:solidFill>
                <a:latin typeface="Microsoft YaHei"/>
              </a:rPr>
              <a:t>次版本化迁移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4648200"/>
            <a:ext cx="1943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V1–V12，结构变更全部可回放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5000" y="1219200"/>
            <a:ext cx="2286000" cy="19050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6450" y="1447800"/>
            <a:ext cx="1943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规则参数外置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6450" y="1847850"/>
            <a:ext cx="19431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阈值不写死在代码里，改参数不动代码、不发版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5000" y="3314700"/>
            <a:ext cx="2286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6450" y="3543300"/>
            <a:ext cx="1943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禁止手工改库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6450" y="3943350"/>
            <a:ext cx="19431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任何结构变更都要落成迁移脚本，保证环境间一致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000" y="5391150"/>
            <a:ext cx="11430000" cy="590550"/>
          </a:xfrm>
          <a:prstGeom prst="roundRect">
            <a:avLst>
              <a:gd name="adj" fmla="val 12903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1000" y="5391150"/>
            <a:ext cx="38100" cy="5905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5391150"/>
            <a:ext cx="914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4950" y="5391150"/>
            <a:ext cx="10134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结构演进必须可回放，所以用版本化迁移而不是手工改库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来源：数据库设计说明 · 业务数据初始化与迁移方案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09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零成本环境与可复现构建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02870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E3F8C"/>
                </a:solidFill>
                <a:latin typeface="Microsoft YaHei"/>
              </a:rPr>
              <a:t>技术选型与理由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409700"/>
            <a:ext cx="6667500" cy="1104900"/>
          </a:xfrm>
          <a:prstGeom prst="roundRect">
            <a:avLst>
              <a:gd name="adj" fmla="val 86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1543050"/>
            <a:ext cx="628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1E4FA8"/>
                </a:solidFill>
                <a:latin typeface="Microsoft YaHei"/>
              </a:rPr>
              <a:t>Spring Boot 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05000"/>
            <a:ext cx="62865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分层清晰、生态成熟，适合把业务规则做成可测试的模块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2628900"/>
            <a:ext cx="6667500" cy="1104900"/>
          </a:xfrm>
          <a:prstGeom prst="roundRect">
            <a:avLst>
              <a:gd name="adj" fmla="val 86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2762250"/>
            <a:ext cx="628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1E4FA8"/>
                </a:solidFill>
                <a:latin typeface="Microsoft YaHei"/>
              </a:rPr>
              <a:t>MySQL 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124200"/>
            <a:ext cx="62865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关系模型贴合会籍/约课/收费的强约束场景，迁移工具成熟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3848100"/>
            <a:ext cx="6667500" cy="1104900"/>
          </a:xfrm>
          <a:prstGeom prst="roundRect">
            <a:avLst>
              <a:gd name="adj" fmla="val 86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3981450"/>
            <a:ext cx="628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1E4FA8"/>
                </a:solidFill>
                <a:latin typeface="Microsoft YaHei"/>
              </a:rPr>
              <a:t>原生前端单页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343400"/>
            <a:ext cx="62865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减少构建链依赖，答辩现场不受环境与网络影响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9500" y="1028700"/>
            <a:ext cx="4381500" cy="190500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0" y="1219200"/>
            <a:ext cx="400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便携环境（全部在 E 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1600200"/>
            <a:ext cx="400050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JDK 17 · Maven · MySQL · Node 合计约 1.8 GB，C 盘写入为零；环境变量只在命令行临时生效，不改系统设置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9500" y="3086100"/>
            <a:ext cx="438150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0" y="3276600"/>
            <a:ext cx="400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一键启动（三步合一）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0" y="3657600"/>
            <a:ext cx="400050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双击一个脚本：启动数据库 → 等待就绪 → 启动后端 → 自动打开浏览器；数据库起不来会自动回退到免数据库模式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000" y="5219700"/>
            <a:ext cx="11430000" cy="666750"/>
          </a:xfrm>
          <a:prstGeom prst="roundRect">
            <a:avLst>
              <a:gd name="adj" fmla="val 11428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1000" y="5219700"/>
            <a:ext cx="38100" cy="6667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5219700"/>
            <a:ext cx="914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4950" y="5219700"/>
            <a:ext cx="101346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演示环境可复现，答辩当天不依赖现场配置与网络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来源：部署方案设计 · 本地运行手册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8250"/>
            <a:ext cx="12192000" cy="304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0" b="1">
                <a:solidFill>
                  <a:srgbClr val="E8EFF8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286000"/>
            <a:ext cx="952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3D7BD9"/>
                </a:solidFill>
                <a:latin typeface="Microsoft YaHei"/>
              </a:rPr>
              <a:t>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686050"/>
            <a:ext cx="9525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50" b="1">
                <a:solidFill>
                  <a:srgbClr val="0E3F8C"/>
                </a:solidFill>
                <a:latin typeface="Microsoft YaHei"/>
              </a:rPr>
              <a:t>关键实现与业务规则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600450"/>
            <a:ext cx="11430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5000" y="38100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75" b="0">
                <a:solidFill>
                  <a:srgbClr val="4A5568"/>
                </a:solidFill>
                <a:latin typeface="Microsoft YaHei"/>
              </a:rPr>
              <a:t>规则外置、权限服务端强制、主链路的异常分支同样要有明确语义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860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60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规则外置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06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06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角色鉴权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270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270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约课主链路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47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47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两项创新点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286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3F8C"/>
                </a:solidFill>
                <a:latin typeface="Microsoft YaHei"/>
              </a:rPr>
              <a:t>10 条业务规则，改阈值不用发版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3500" y="247650"/>
            <a:ext cx="285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03 关键实现与业务规则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70485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914400"/>
          <a:ext cx="11430000" cy="3829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750"/>
                <a:gridCol w="2381250"/>
                <a:gridCol w="3429000"/>
                <a:gridCol w="4572000"/>
              </a:tblGrid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</a:rPr>
                        <a:t>规则名称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</a:rPr>
                        <a:t>关键参数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</a:tr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SYS-R1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会籍有效期校验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requireStatus = active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过期会籍不可约课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SYS-R2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请假冻结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maxDays = 90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冻结期间不可约课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</a:tr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约课上限与冲突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容量校验 + 时间冲突校验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不超卖、不撞课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SYS-R4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爽约惩罚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N = 3 次，限制 7 天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让爽约有代价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</a:tr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SYS-R5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私教课包核销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每次核销 1 次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课消与课包对齐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SYS-R6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到期提醒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提前 D = 7 天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续费有人跟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</a:tr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SYS-R7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流失风险规则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4 周未到店 或 爽约率&gt;30%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生成跟进任务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SYS-R8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爽约预测规则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阈值 T = 0.60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提前处置名额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</a:tr>
              <a:tr h="3480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SYS-R9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新会员首月跟进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30 天内到店 &lt; 2 次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新客不流失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3481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SYS-R10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私教业绩提成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按课时计，比例 20%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业绩可核算</a:t>
                      </a:r>
                    </a:p>
                  </a:txBody>
                  <a:tcPr marL="76200" marR="76200" marT="28575" marB="2857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81000" y="4953000"/>
            <a:ext cx="11430000" cy="666750"/>
          </a:xfrm>
          <a:prstGeom prst="roundRect">
            <a:avLst>
              <a:gd name="adj" fmla="val 11428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4953000"/>
            <a:ext cx="38100" cy="6667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953000"/>
            <a:ext cx="914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4953000"/>
            <a:ext cx="101346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规则参数集中在 rule_config 表里，运营改参数不动代码——这才是"规则可配置"的落地方式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来源：rule_config 种子数据（项目真实配置）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一个入口，五种角色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009650"/>
            <a:ext cx="7048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登录后按角色进入对应界面（密码统一 123456）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409700"/>
          <a:ext cx="7048500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619250"/>
                <a:gridCol w="3619500"/>
              </a:tblGrid>
              <a:tr h="5905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账号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可见范围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member1 / member2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会员端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我的会籍 · 约课 · 扫码签到 · 场地预约 · 我的课表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coach1 / coach2 / coach3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教练端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我的授课课表 · 学员名单 · 核销本人课程签到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manager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门店后台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约课管理 · 收费对账 · 风险预测 · 业绩提成 · 场馆与课程课表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admin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门店后台 + 系统管理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在店长权限之上，可重置演示数据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superadmin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超级管理员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Microsoft YaHei"/>
                        </a:rPr>
                        <a:t>以上全部 + 账号管理（查看 / 重置密码 / 启停）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81000" y="5143500"/>
            <a:ext cx="7048500" cy="704850"/>
          </a:xfrm>
          <a:prstGeom prst="roundRect">
            <a:avLst>
              <a:gd name="adj" fmla="val 1081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1000" y="5143500"/>
            <a:ext cx="38100" cy="7048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3400" y="5143500"/>
            <a:ext cx="9144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4950" y="5143500"/>
            <a:ext cx="57531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权限必须在服务端强制，前端隐藏按钮不算权限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34300" y="1028700"/>
            <a:ext cx="4076700" cy="4819650"/>
          </a:xfrm>
          <a:prstGeom prst="roundRect">
            <a:avLst>
              <a:gd name="adj" fmla="val 2803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3850" y="121920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服务端强制的三种结果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3850" y="1676400"/>
            <a:ext cx="3657600" cy="12192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5300" y="1809750"/>
            <a:ext cx="33147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4A5568"/>
                </a:solidFill>
                <a:latin typeface="Microsoft YaHei"/>
              </a:rPr>
              <a:t>401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5300" y="2286000"/>
            <a:ext cx="3314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未登录或令牌过期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3850" y="3028950"/>
            <a:ext cx="3657600" cy="12192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5300" y="3162300"/>
            <a:ext cx="33147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D9534F"/>
                </a:solidFill>
                <a:latin typeface="Microsoft YaHei"/>
              </a:rPr>
              <a:t>403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5300" y="3638550"/>
            <a:ext cx="3314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越权访问他人数据、会员调用门店接口、非管理员执行重置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3850" y="4381500"/>
            <a:ext cx="3657600" cy="12192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5300" y="4514850"/>
            <a:ext cx="33147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E4FA8"/>
                </a:solidFill>
                <a:latin typeface="Microsoft YaHei"/>
              </a:rPr>
              <a:t>409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5300" y="4991100"/>
            <a:ext cx="3314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重复签到、重复取消、状态不允许的操作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3850" y="5715000"/>
            <a:ext cx="3657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均已编写集成用例验证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来源：系统测试文档 · 集成测试报告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约课主链路：约、到、退、罚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1066800"/>
            <a:ext cx="2686050" cy="1714500"/>
          </a:xfrm>
          <a:prstGeom prst="roundRect">
            <a:avLst>
              <a:gd name="adj" fmla="val 6666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257300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2573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57300"/>
            <a:ext cx="171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1">
                <a:solidFill>
                  <a:srgbClr val="0E3F8C"/>
                </a:solidFill>
                <a:latin typeface="Microsoft YaHei"/>
              </a:rPr>
              <a:t>预约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828800"/>
            <a:ext cx="2286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有效会籍 + 不满员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+ 无时间冲突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2914650"/>
            <a:ext cx="2686050" cy="1066800"/>
          </a:xfrm>
          <a:prstGeom prst="roundRect">
            <a:avLst>
              <a:gd name="adj" fmla="val 8928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450" y="3048000"/>
            <a:ext cx="23431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重复提交保持幂等：返回同一预约号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5650" y="1066800"/>
            <a:ext cx="2686050" cy="1714500"/>
          </a:xfrm>
          <a:prstGeom prst="roundRect">
            <a:avLst>
              <a:gd name="adj" fmla="val 6666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4250" y="1257300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12573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7650" y="1257300"/>
            <a:ext cx="171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1">
                <a:solidFill>
                  <a:srgbClr val="0E3F8C"/>
                </a:solidFill>
                <a:latin typeface="Microsoft YaHei"/>
              </a:rPr>
              <a:t>签到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4250" y="1828800"/>
            <a:ext cx="2286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扫码或前台代签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状态改为已签到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5650" y="2914650"/>
            <a:ext cx="2686050" cy="1066800"/>
          </a:xfrm>
          <a:prstGeom prst="roundRect">
            <a:avLst>
              <a:gd name="adj" fmla="val 8928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7100" y="3048000"/>
            <a:ext cx="23431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重复签到返回 409，不再重复核销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1066800"/>
            <a:ext cx="2686050" cy="1714500"/>
          </a:xfrm>
          <a:prstGeom prst="roundRect">
            <a:avLst>
              <a:gd name="adj" fmla="val 6666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8900" y="1257300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8900" y="12573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2300" y="1257300"/>
            <a:ext cx="171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1">
                <a:solidFill>
                  <a:srgbClr val="0E3F8C"/>
                </a:solidFill>
                <a:latin typeface="Microsoft YaHei"/>
              </a:rPr>
              <a:t>取消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900" y="1828800"/>
            <a:ext cx="2286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仅未签到可取消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名额立即释放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300" y="2914650"/>
            <a:ext cx="2686050" cy="1066800"/>
          </a:xfrm>
          <a:prstGeom prst="roundRect">
            <a:avLst>
              <a:gd name="adj" fmla="val 8928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1750" y="3048000"/>
            <a:ext cx="23431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重复取消返回 409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24950" y="1066800"/>
            <a:ext cx="2686050" cy="1714500"/>
          </a:xfrm>
          <a:prstGeom prst="roundRect">
            <a:avLst>
              <a:gd name="adj" fmla="val 6666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53550" y="1257300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3550" y="12573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6950" y="1257300"/>
            <a:ext cx="171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1">
                <a:solidFill>
                  <a:srgbClr val="0E3F8C"/>
                </a:solidFill>
                <a:latin typeface="Microsoft YaHei"/>
              </a:rPr>
              <a:t>爽约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3550" y="1828800"/>
            <a:ext cx="2286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未签到判爽约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累计达 3 次受限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24950" y="2914650"/>
            <a:ext cx="2686050" cy="1066800"/>
          </a:xfrm>
          <a:prstGeom prst="roundRect">
            <a:avLst>
              <a:gd name="adj" fmla="val 8928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6400" y="3048000"/>
            <a:ext cx="23431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重复判定返回 409，限制 7 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4152900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同一个动作的异常分支，语义必须明确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000" y="4572000"/>
            <a:ext cx="114300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" y="4572000"/>
            <a:ext cx="381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400" y="4572000"/>
            <a:ext cx="9144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4950" y="4572000"/>
            <a:ext cx="101346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主链路的完成度不看正常路径，而看异常路径：幂等、重复操作、状态冲突都要有确定结果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来源：booking.feature · attendance.feature（真实执行 18 个场景）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286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3F8C"/>
                </a:solidFill>
                <a:latin typeface="Microsoft YaHei"/>
              </a:rPr>
              <a:t>创新点一：把"会员会流失"变成可执行任务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3500" y="247650"/>
            <a:ext cx="285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SYS-R7 / SYS-R9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70485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914400"/>
            <a:ext cx="3657600" cy="1981200"/>
          </a:xfrm>
          <a:prstGeom prst="roundRect">
            <a:avLst>
              <a:gd name="adj" fmla="val 5769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104900"/>
            <a:ext cx="285750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>
                <a:solidFill>
                  <a:srgbClr val="0E3F8C"/>
                </a:solidFill>
                <a:latin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0750" y="1485900"/>
            <a:ext cx="952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1">
                <a:solidFill>
                  <a:srgbClr val="1E4FA8"/>
                </a:solidFill>
                <a:latin typeface="Microsoft YaHei"/>
              </a:rPr>
              <a:t>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247900"/>
            <a:ext cx="3124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连续未到店即判高风险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914400"/>
            <a:ext cx="3657600" cy="1981200"/>
          </a:xfrm>
          <a:prstGeom prst="roundRect">
            <a:avLst>
              <a:gd name="adj" fmla="val 5769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1104900"/>
            <a:ext cx="285750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>
                <a:solidFill>
                  <a:srgbClr val="0E3F8C"/>
                </a:solidFill>
                <a:latin typeface="Microsoft YaHe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6950" y="1485900"/>
            <a:ext cx="952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1">
                <a:solidFill>
                  <a:srgbClr val="1E4FA8"/>
                </a:solidFill>
                <a:latin typeface="Microsoft YaHei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3900" y="2247900"/>
            <a:ext cx="3124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近 30 天爽约率阈值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00" y="914400"/>
            <a:ext cx="3657600" cy="1981200"/>
          </a:xfrm>
          <a:prstGeom prst="roundRect">
            <a:avLst>
              <a:gd name="adj" fmla="val 5769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0100" y="1104900"/>
            <a:ext cx="285750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>
                <a:solidFill>
                  <a:srgbClr val="0E3F8C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3150" y="1485900"/>
            <a:ext cx="952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1">
                <a:solidFill>
                  <a:srgbClr val="1E4FA8"/>
                </a:solidFill>
                <a:latin typeface="Microsoft YaHei"/>
              </a:rPr>
              <a:t>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100" y="2247900"/>
            <a:ext cx="3124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可自动生成的跟进任务类型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000" y="3067050"/>
            <a:ext cx="56007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0550" y="3257550"/>
            <a:ext cx="5181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命中判据（任一成立即生成任务）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3638550"/>
            <a:ext cx="51816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① 连续 4 周未到店</a:t>
            </a:r>
          </a:p>
          <a:p>
            <a:pPr algn="l">
              <a:lnSpc>
                <a:spcPct val="16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② 近 30 天爽约率超过 30%</a:t>
            </a:r>
          </a:p>
          <a:p>
            <a:pPr algn="l">
              <a:lnSpc>
                <a:spcPct val="16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③ 办卡 30 天内到店不足 2 次（SYS-R9）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300" y="3067050"/>
            <a:ext cx="5600700" cy="1676400"/>
          </a:xfrm>
          <a:prstGeom prst="roundRect">
            <a:avLst>
              <a:gd name="adj" fmla="val 6818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850" y="3257550"/>
            <a:ext cx="5181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产出物：一条有人负责的跟进任务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3638550"/>
            <a:ext cx="51816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任务带会员、命中原因、规则编号与到期时间；</a:t>
            </a:r>
          </a:p>
          <a:p>
            <a:pPr algn="l">
              <a:lnSpc>
                <a:spcPct val="16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店长在后台直接看到待跟进清单，而不是看一张报表。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4933950"/>
            <a:ext cx="11430000" cy="685800"/>
          </a:xfrm>
          <a:prstGeom prst="roundRect">
            <a:avLst>
              <a:gd name="adj" fmla="val 11111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1000" y="4933950"/>
            <a:ext cx="38100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493395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50" y="4933950"/>
            <a:ext cx="10134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预警的价值在于"生成一条有人负责的任务"，而不是多一个报表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来源：warning.feature · 风险扫描实测输出（7 条任务）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创新点二：预测爽约，提前处置名额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1028700"/>
            <a:ext cx="6667500" cy="4095750"/>
          </a:xfrm>
          <a:prstGeom prst="roundRect">
            <a:avLst>
              <a:gd name="adj" fmla="val 279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0550" y="1219200"/>
            <a:ext cx="6248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概率算法（规则式起步，可替换为模型）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550" y="1676400"/>
            <a:ext cx="62484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050" y="1676400"/>
            <a:ext cx="2857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1E4FA8"/>
                </a:solidFill>
                <a:latin typeface="Microsoft YaHei"/>
              </a:rPr>
              <a:t>0.10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3800" y="1676400"/>
            <a:ext cx="2952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Microsoft YaHei"/>
              </a:rPr>
              <a:t>基线概率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550" y="2362200"/>
            <a:ext cx="62484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050" y="2362200"/>
            <a:ext cx="2857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1E4FA8"/>
                </a:solidFill>
                <a:latin typeface="Microsoft YaHei"/>
              </a:rPr>
              <a:t>+ 爽约占比 × 0.60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3800" y="2362200"/>
            <a:ext cx="2952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Microsoft YaHei"/>
              </a:rPr>
              <a:t>历史爽约次数 / 总次数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0550" y="3048000"/>
            <a:ext cx="62484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050" y="3048000"/>
            <a:ext cx="2857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1E4FA8"/>
                </a:solidFill>
                <a:latin typeface="Microsoft YaHei"/>
              </a:rPr>
              <a:t>+ 0.20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800" y="3048000"/>
            <a:ext cx="2952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Microsoft YaHei"/>
              </a:rPr>
              <a:t>超过 14 天未到店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550" y="3733800"/>
            <a:ext cx="62484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050" y="3733800"/>
            <a:ext cx="2857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1E4FA8"/>
                </a:solidFill>
                <a:latin typeface="Microsoft YaHei"/>
              </a:rPr>
              <a:t>+ 0.15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3800" y="3733800"/>
            <a:ext cx="2952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Microsoft YaHei"/>
              </a:rPr>
              <a:t>办卡不超过 30 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4419600"/>
            <a:ext cx="62484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050" y="4419600"/>
            <a:ext cx="2857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1E4FA8"/>
                </a:solidFill>
                <a:latin typeface="Microsoft YaHei"/>
              </a:rPr>
              <a:t>= min(0.99, 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3800" y="4419600"/>
            <a:ext cx="2952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A5568"/>
                </a:solidFill>
                <a:latin typeface="Microsoft YaHei"/>
              </a:rPr>
              <a:t>上限封顶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7100" y="1028700"/>
            <a:ext cx="4533900" cy="190500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6650" y="1219200"/>
            <a:ext cx="411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阈值与动作的对应关系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6650" y="1600200"/>
            <a:ext cx="411480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阈值 T = 0.60 来自规则表（可配置）。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概率 &gt; T 且课程已满 → release（释放名额给候补）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概率 &gt; T 且未满 → remind（提前提醒会员）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7100" y="3086100"/>
            <a:ext cx="45339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6650" y="3276600"/>
            <a:ext cx="411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输出的是动作，不只是数字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6650" y="3657600"/>
            <a:ext cx="41148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按概率倒序列出某节课的每位已约会员，附建议动作与会员姓名；店长照着清单打电话或放名额即可。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000" y="5257800"/>
            <a:ext cx="11430000" cy="647700"/>
          </a:xfrm>
          <a:prstGeom prst="roundRect">
            <a:avLst>
              <a:gd name="adj" fmla="val 11764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1000" y="5257800"/>
            <a:ext cx="38100" cy="6477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400" y="5257800"/>
            <a:ext cx="91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4950" y="5257800"/>
            <a:ext cx="1013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预测必须落到动作上，否则只是一个好看的百分比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来源：warning.feature · 爽约预测接口实测输出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排课、选课与课程维护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52500"/>
            <a:ext cx="11430000" cy="1009650"/>
          </a:xfrm>
          <a:prstGeom prst="roundRect">
            <a:avLst>
              <a:gd name="adj" fmla="val 113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0550" y="12382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550" y="12382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108585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排课：管理员与店长均可新建课程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14097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填写编号、名称、类型、教练、场地、起止时间与容量；校验编号唯一、时间合法，并按 SYS-R3 检测教练或场地时段冲突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2057400"/>
            <a:ext cx="11430000" cy="1009650"/>
          </a:xfrm>
          <a:prstGeom prst="roundRect">
            <a:avLst>
              <a:gd name="adj" fmla="val 113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0550" y="23431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3431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219075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选课：所有登录用户可自愿报名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25146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会员账号固定作用于本人（伪造 memberId 会被改写）；重复选课幂等，返回同一预约号；会籍过期或爽约受限会被拦截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3162300"/>
            <a:ext cx="11430000" cy="1009650"/>
          </a:xfrm>
          <a:prstGeom prst="roundRect">
            <a:avLst>
              <a:gd name="adj" fmla="val 113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0550" y="34480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550" y="34480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329565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退课：自愿退出，规则明确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36195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仅「已预约」状态可退；课程开始后不可退；重复退课返回 409；退课后名额立即释放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000" y="4267200"/>
            <a:ext cx="11430000" cy="1009650"/>
          </a:xfrm>
          <a:prstGeom prst="roundRect">
            <a:avLst>
              <a:gd name="adj" fmla="val 113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0550" y="45529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550" y="45529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50" y="440055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维护：编辑、下架与重新上架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0150" y="47244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修改时容量不得小于已预约人数；下架为软删除（保留历史预约可追溯），存在待上课预约时拒绝下架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000" y="5391150"/>
            <a:ext cx="1143000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1000" y="5391150"/>
            <a:ext cx="38100" cy="60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5391150"/>
            <a:ext cx="9144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权限设计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4950" y="5391150"/>
            <a:ext cx="10134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会员调用排课接口返回 403；排课与课程维护对管理员和店长开放，数据重置仍仅管理员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来源：系统测试文档 · E2 排课与课程维护、E3 会员自愿选课退课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会员注册与前后台联动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009650"/>
            <a:ext cx="628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E3F8C"/>
                </a:solidFill>
                <a:latin typeface="Microsoft YaHei"/>
              </a:rPr>
              <a:t>会员自助注册（免登录）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409700"/>
            <a:ext cx="6286500" cy="990600"/>
          </a:xfrm>
          <a:prstGeom prst="roundRect">
            <a:avLst>
              <a:gd name="adj" fmla="val 9615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6954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16954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1562100"/>
            <a:ext cx="5295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填写信息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1885950"/>
            <a:ext cx="5295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用户名、密码（至少 6 位）、姓名、手机号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2495550"/>
            <a:ext cx="6286500" cy="990600"/>
          </a:xfrm>
          <a:prstGeom prst="roundRect">
            <a:avLst>
              <a:gd name="adj" fmla="val 9615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1500" y="2781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278130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2647950"/>
            <a:ext cx="5295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一次事务创建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2971800"/>
            <a:ext cx="5295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登录账号 + 会员档案 + 角色绑定，不留半成品数据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3581400"/>
            <a:ext cx="6286500" cy="990600"/>
          </a:xfrm>
          <a:prstGeom prst="roundRect">
            <a:avLst>
              <a:gd name="adj" fmla="val 9615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1500" y="38671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38671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3733800"/>
            <a:ext cx="5295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自动编号并登录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057650"/>
            <a:ext cx="5295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会员编号自动生成 M001…，注册成功即签发令牌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96100" y="1009650"/>
            <a:ext cx="4914900" cy="2209800"/>
          </a:xfrm>
          <a:prstGeom prst="roundRect">
            <a:avLst>
              <a:gd name="adj" fmla="val 5172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5650" y="1200150"/>
            <a:ext cx="4495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门店后台：会员 ↔ 课程联动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5650" y="1581150"/>
            <a:ext cx="4495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① 选中会员卡片 → 每门课出现「为 TA 约课」</a:t>
            </a:r>
          </a:p>
          <a:p>
            <a:pPr algn="l">
              <a:lnSpc>
                <a:spcPct val="155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② 课程卡显示「已报名（N）：姓名…」与余位</a:t>
            </a:r>
          </a:p>
          <a:p>
            <a:pPr algn="l">
              <a:lnSpc>
                <a:spcPct val="155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③ 未选会员时只提示，不显示代客按钮</a:t>
            </a:r>
          </a:p>
          <a:p>
            <a:pPr algn="l">
              <a:lnSpc>
                <a:spcPct val="155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④ 约课 / 签到 / 取消后，预约、余位与名单、已约门数三级联动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96100" y="3333750"/>
            <a:ext cx="49149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5650" y="3486150"/>
            <a:ext cx="44958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角色与能力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5650" y="3829050"/>
            <a:ext cx="44958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会员：选课 / 退课 / 签到（仅本人）</a:t>
            </a:r>
          </a:p>
          <a:p>
            <a:pPr algn="l">
              <a:lnSpc>
                <a:spcPct val="160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店长：以上 + 排课与课程维护</a:t>
            </a:r>
          </a:p>
          <a:p>
            <a:pPr algn="l">
              <a:lnSpc>
                <a:spcPct val="160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管理员：以上 + 数据重置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" y="5143500"/>
            <a:ext cx="11430000" cy="628650"/>
          </a:xfrm>
          <a:prstGeom prst="roundRect">
            <a:avLst>
              <a:gd name="adj" fmla="val 12121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1000" y="5143500"/>
            <a:ext cx="38100" cy="6286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400" y="5143500"/>
            <a:ext cx="9144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联动价值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4950" y="5143500"/>
            <a:ext cx="101346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注册把潜在会员纳入系统；联动让门店一眼看清每门课的真实报名情况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来源：系统测试文档 · A2 会员自助注册、G 会员↔课程余位联动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286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3F8C"/>
                </a:solidFill>
                <a:latin typeface="Microsoft YaHei"/>
              </a:rPr>
              <a:t>扫码签到与前端体验优化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3500" y="228600"/>
            <a:ext cx="28575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03 关键实现与业务规则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70485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914400"/>
            <a:ext cx="3619500" cy="4476750"/>
          </a:xfrm>
          <a:prstGeom prst="roundRect">
            <a:avLst>
              <a:gd name="adj" fmla="val 3157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checkin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066800"/>
            <a:ext cx="304800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210050"/>
            <a:ext cx="3238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图：真实二维码（现场可扫）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514850"/>
            <a:ext cx="32385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二维码内容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GYM-CHECKIN:{预约号}:{会员号}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会员出示，门店扫码核销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0" y="914400"/>
            <a:ext cx="7620000" cy="2152650"/>
          </a:xfrm>
          <a:prstGeom prst="roundRect">
            <a:avLst>
              <a:gd name="adj" fmla="val 5309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0550" y="1066800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扫码签到闭环（取代原先"点一下就完事"）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0550" y="1447800"/>
            <a:ext cx="7429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1">
                <a:solidFill>
                  <a:srgbClr val="1E4FA8"/>
                </a:solidFill>
                <a:latin typeface="Microsoft YaHei"/>
              </a:rPr>
              <a:t>① 会员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0650" y="1447800"/>
            <a:ext cx="63817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在「我的预约」点扫码签到 → 弹出二维码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550" y="1885950"/>
            <a:ext cx="7429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1">
                <a:solidFill>
                  <a:srgbClr val="1E4FA8"/>
                </a:solidFill>
                <a:latin typeface="Microsoft YaHei"/>
              </a:rPr>
              <a:t>② 门店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0650" y="1885950"/>
            <a:ext cx="63817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在「约课管理 → 扫码核销签到」扫描或粘贴内容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0550" y="2324100"/>
            <a:ext cx="7429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1">
                <a:solidFill>
                  <a:srgbClr val="1E4FA8"/>
                </a:solidFill>
                <a:latin typeface="Microsoft YaHei"/>
              </a:rPr>
              <a:t>③ 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0650" y="2324100"/>
            <a:ext cx="63817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核销成功并记录渠道为扫码；重复核销返回状态冲突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3181350"/>
            <a:ext cx="7620000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0550" y="3333750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前端体验优化（4 项）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0550" y="3695700"/>
            <a:ext cx="723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· 左侧导航 + 独立页面：会员 3 页 / 门店 8 页，按角色渲染菜单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0550" y="4076700"/>
            <a:ext cx="723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· 身份选择登录：先选会员 / 店长 / 管理员，再输入账号密码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0550" y="4457700"/>
            <a:ext cx="723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· 选课搜索：按课程名称 / 编号 / 教练 / 场地实时过滤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0550" y="4838700"/>
            <a:ext cx="7239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· 二维码由前端内嵌生成器产出，不依赖外部库，也不依赖网络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5505450"/>
            <a:ext cx="1143000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1000" y="5505450"/>
            <a:ext cx="38100" cy="60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5505450"/>
            <a:ext cx="9144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50" y="5505450"/>
            <a:ext cx="10134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签到从"点一下"升级为完整闭环；前端从单页堆叠改为分角色导航，演示路径更清晰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来源：系统测试文档 · J 扫码签到、H 身份与导航、I 搜索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教练端：第五种角色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00965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教练可登录，有专属界面，而不是门店后台的一个菜单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409700"/>
            <a:ext cx="6667500" cy="1009650"/>
          </a:xfrm>
          <a:prstGeom prst="roundRect">
            <a:avLst>
              <a:gd name="adj" fmla="val 943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6954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16954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430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0E3F8C"/>
                </a:solidFill>
                <a:latin typeface="Microsoft YaHei"/>
              </a:rPr>
              <a:t>独立身份与入口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66900"/>
            <a:ext cx="5676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登录页第五个身份「教练」；账号 coach1 / coach2 / coach3，登录后进入教练端，左侧只有教练菜单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2514600"/>
            <a:ext cx="6667500" cy="1009650"/>
          </a:xfrm>
          <a:prstGeom prst="roundRect">
            <a:avLst>
              <a:gd name="adj" fmla="val 943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1500" y="2800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28003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479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0E3F8C"/>
                </a:solidFill>
                <a:latin typeface="Microsoft YaHei"/>
              </a:rPr>
              <a:t>我的课表：只看本人所授课程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71800"/>
            <a:ext cx="5676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按周展示本人课程；门店后台可按教练筛选，但教练账号无论传什么参数都只能看到自己的课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3619500"/>
            <a:ext cx="6667500" cy="1009650"/>
          </a:xfrm>
          <a:prstGeom prst="roundRect">
            <a:avLst>
              <a:gd name="adj" fmla="val 943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1500" y="39052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39052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528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0E3F8C"/>
                </a:solidFill>
                <a:latin typeface="Microsoft YaHei"/>
              </a:rPr>
              <a:t>学员名单：满员也能查全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76700"/>
            <a:ext cx="5676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选择自己的一门课即可看到全部报名会员（姓名 / 编号 / 状态），解决"满了 0/15 却查不到是谁"的问题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000" y="4724400"/>
            <a:ext cx="6667500" cy="1009650"/>
          </a:xfrm>
          <a:prstGeom prst="roundRect">
            <a:avLst>
              <a:gd name="adj" fmla="val 943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1500" y="50101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5010150"/>
            <a:ext cx="4381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577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0E3F8C"/>
                </a:solidFill>
                <a:latin typeface="Microsoft YaHei"/>
              </a:rPr>
              <a:t>核销签到：仅限本人课程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181600"/>
            <a:ext cx="5676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教练可对自己课程的报名会员核销签到；对非本人课程的名单与核销请求一律 403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77100" y="1009650"/>
            <a:ext cx="4533900" cy="4305300"/>
          </a:xfrm>
          <a:prstGeom prst="roundRect">
            <a:avLst>
              <a:gd name="adj" fmla="val 2654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6650" y="1200150"/>
            <a:ext cx="411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权限边界（服务端强制）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486650" y="1600200"/>
          <a:ext cx="4114798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495"/>
                <a:gridCol w="894521"/>
                <a:gridCol w="1341782"/>
              </a:tblGrid>
              <a:tr h="44903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</a:rPr>
                        <a:t>动作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</a:rPr>
                        <a:t>教练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</a:rPr>
                        <a:t>门店后台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</a:tr>
              <a:tr h="44903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查看本人课表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✔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✔（可查全部）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44903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查看本人课程学员名单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✔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✔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44903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核销本人课程签到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✔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✔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44903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核销他人课程签到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403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✔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44903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排课 / 改课 / 下架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403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✔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449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进入门店后台菜单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403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✔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381000" y="5429250"/>
            <a:ext cx="11430000" cy="647700"/>
          </a:xfrm>
          <a:prstGeom prst="roundRect">
            <a:avLst>
              <a:gd name="adj" fmla="val 11764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1000" y="5429250"/>
            <a:ext cx="38100" cy="6477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3400" y="5429250"/>
            <a:ext cx="91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4950" y="5429250"/>
            <a:ext cx="1013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角色扩张不能靠前端藏按钮：教练的每一次越权请求都在服务端被拦，并写成了用例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来源：需求 REQ-B3-004~008 · 集成 IT-066/095/096、浏览器 BT-060~065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场地预约：4 个私有场馆 + 1 个公共区域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1028700"/>
          <a:ext cx="5333997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31"/>
                <a:gridCol w="1871578"/>
                <a:gridCol w="1122947"/>
                <a:gridCol w="842210"/>
                <a:gridCol w="748631"/>
              </a:tblGrid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</a:rPr>
                        <a:t>场馆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</a:rPr>
                        <a:t>容量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</a:rPr>
                        <a:t>时费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V01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私教 A 室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私有场馆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1 对 1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¥80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V02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私教 B 室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私有场馆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1 对 1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¥60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V03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瑜伽小班室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私有场馆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8 人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¥50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V04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力量训练室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私有场馆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6 人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¥40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V05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公共自由训练区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公共区域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20 人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75" b="0">
                          <a:solidFill>
                            <a:srgbClr val="1A2230"/>
                          </a:solidFill>
                          <a:latin typeface="Microsoft YaHei"/>
                        </a:rPr>
                        <a:t>免费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3981450"/>
            <a:ext cx="5334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展示口径：会员端只看到「可用」场馆；门店后台可调整容量、位置、费用与维护状态，维护中的场馆立即不可预约。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5500" y="1028700"/>
            <a:ext cx="5905500" cy="819150"/>
          </a:xfrm>
          <a:prstGeom prst="roundRect">
            <a:avLst>
              <a:gd name="adj" fmla="val 11627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0" y="1028700"/>
            <a:ext cx="38100" cy="8191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15050" y="1143000"/>
            <a:ext cx="55054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E3F8C"/>
                </a:solidFill>
                <a:latin typeface="Microsoft YaHei"/>
              </a:rPr>
              <a:t>时段不可重叠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5050" y="1466850"/>
            <a:ext cx="5505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同一场地的任何区间重叠都判冲突（沿用排课的 SYS-R3 思路），返回 409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05500" y="1943100"/>
            <a:ext cx="5905500" cy="819150"/>
          </a:xfrm>
          <a:prstGeom prst="roundRect">
            <a:avLst>
              <a:gd name="adj" fmla="val 11627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0" y="1943100"/>
            <a:ext cx="38100" cy="8191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5050" y="2057400"/>
            <a:ext cx="55054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E3F8C"/>
                </a:solidFill>
                <a:latin typeface="Microsoft YaHei"/>
              </a:rPr>
              <a:t>会籍差异化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5050" y="2381250"/>
            <a:ext cx="5505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私有场馆仅对有效会籍开放；公共区域不校验会籍，任何人可约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05500" y="2857500"/>
            <a:ext cx="5905500" cy="819150"/>
          </a:xfrm>
          <a:prstGeom prst="roundRect">
            <a:avLst>
              <a:gd name="adj" fmla="val 11627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0" y="2857500"/>
            <a:ext cx="38100" cy="8191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5050" y="2971800"/>
            <a:ext cx="55054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E3F8C"/>
                </a:solidFill>
                <a:latin typeface="Microsoft YaHei"/>
              </a:rPr>
              <a:t>单次最长 4 小时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5050" y="3295650"/>
            <a:ext cx="5505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超过上限直接拒绝；结束早于开始、开始时间已过同样拒绝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0" y="3771900"/>
            <a:ext cx="5905500" cy="819150"/>
          </a:xfrm>
          <a:prstGeom prst="roundRect">
            <a:avLst>
              <a:gd name="adj" fmla="val 11627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05500" y="3771900"/>
            <a:ext cx="38100" cy="8191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5050" y="3886200"/>
            <a:ext cx="55054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E3F8C"/>
                </a:solidFill>
                <a:latin typeface="Microsoft YaHei"/>
              </a:rPr>
              <a:t>两种发起方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5050" y="4210050"/>
            <a:ext cx="5505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会员自助（createdBy 为空）与门店代约（记录店员 ID），后台一眼可辨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05500" y="4686300"/>
            <a:ext cx="5905500" cy="819150"/>
          </a:xfrm>
          <a:prstGeom prst="roundRect">
            <a:avLst>
              <a:gd name="adj" fmla="val 11627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05500" y="4686300"/>
            <a:ext cx="38100" cy="8191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5050" y="4800600"/>
            <a:ext cx="55054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E3F8C"/>
                </a:solidFill>
                <a:latin typeface="Microsoft YaHei"/>
              </a:rPr>
              <a:t>取消与释放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5050" y="5124450"/>
            <a:ext cx="5505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会员可取消本人的预约，门店可取消任意预约；重复取消返回 409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" y="5429250"/>
            <a:ext cx="11430000" cy="647700"/>
          </a:xfrm>
          <a:prstGeom prst="roundRect">
            <a:avLst>
              <a:gd name="adj" fmla="val 11764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1000" y="5429250"/>
            <a:ext cx="38100" cy="6477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400" y="5429250"/>
            <a:ext cx="91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4950" y="5429250"/>
            <a:ext cx="1013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场地与课程是同一类"时段资源"，所以冲突校验复用同一套规则，不另起炉灶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来源：需求 REQ-B6-002~007 · 迁移 V11 · 集成 IT-073~090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课表式管理：一张周课表，三种视角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1028700"/>
            <a:ext cx="6096000" cy="1104900"/>
          </a:xfrm>
          <a:prstGeom prst="roundRect">
            <a:avLst>
              <a:gd name="adj" fmla="val 8620"/>
            </a:avLst>
          </a:prstGeom>
          <a:solidFill>
            <a:srgbClr val="E8EFF8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12001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120015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会员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6900" y="11811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我的课表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1562100"/>
            <a:ext cx="4381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本人已选课程 + 本人场地预约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2247900"/>
            <a:ext cx="6096000" cy="1104900"/>
          </a:xfrm>
          <a:prstGeom prst="roundRect">
            <a:avLst>
              <a:gd name="adj" fmla="val 8620"/>
            </a:avLst>
          </a:prstGeom>
          <a:solidFill>
            <a:srgbClr val="E8EFF8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4193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" y="241935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教练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6900" y="24003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我的课表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6900" y="2781300"/>
            <a:ext cx="4381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本人所授课程 + 全店场馆占用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3467100"/>
            <a:ext cx="60960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" y="36385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63855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店长 / 管理员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6900" y="36195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全店课表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900" y="4000500"/>
            <a:ext cx="4381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全店课程表 + 场馆占用课表（可按会员 / 教练 / 场馆筛选）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0" y="1028700"/>
            <a:ext cx="5143500" cy="3314700"/>
          </a:xfrm>
          <a:prstGeom prst="roundRect">
            <a:avLst>
              <a:gd name="adj" fmla="val 3448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7050" y="1219200"/>
            <a:ext cx="4724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关键设计：看到什么由服务端决定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7050" y="1600200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37" b="0">
                <a:solidFill>
                  <a:srgbClr val="1A2230"/>
                </a:solidFill>
                <a:latin typeface="Microsoft YaHei"/>
              </a:rPr>
              <a:t>· 会员与教练的 scope 参数被服务端改写成 mine，直接构造 URL 也拿不到别人的课表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7050" y="2133600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37" b="0">
                <a:solidFill>
                  <a:srgbClr val="1A2230"/>
                </a:solidFill>
                <a:latin typeface="Microsoft YaHei"/>
              </a:rPr>
              <a:t>· memberId / coachId 由会话绑定，伪造会被改写为本人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7050" y="2667000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37" b="0">
                <a:solidFill>
                  <a:srgbClr val="1A2230"/>
                </a:solidFill>
                <a:latin typeface="Microsoft YaHei"/>
              </a:rPr>
              <a:t>· 课表是只读聚合视图，条目全部来自各模块的对外契约，不存在"课表与业务数据不一致"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7050" y="3200400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37" b="0">
                <a:solidFill>
                  <a:srgbClr val="1A2230"/>
                </a:solidFill>
                <a:latin typeface="Microsoft YaHei"/>
              </a:rPr>
              <a:t>· 固定返回周一至周日七列，无安排的日期保留为空 —— 一眼看出空档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7050" y="3733800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37" b="0">
                <a:solidFill>
                  <a:srgbClr val="1A2230"/>
                </a:solidFill>
                <a:latin typeface="Microsoft YaHei"/>
              </a:rPr>
              <a:t>· 场馆占用课表只显示占用中的时段，已取消的不再占位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4476750"/>
            <a:ext cx="60960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课程管理、场馆管理页面都提供「列表 ⇄ 周课表」切换：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2230"/>
                </a:solidFill>
                <a:latin typeface="Microsoft YaHei"/>
              </a:rPr>
              <a:t>列表适合逐条维护，课表适合看全局空档；课表里的课程卡片可直接点进编辑。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000" y="5429250"/>
            <a:ext cx="11430000" cy="647700"/>
          </a:xfrm>
          <a:prstGeom prst="roundRect">
            <a:avLst>
              <a:gd name="adj" fmla="val 11764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1000" y="5429250"/>
            <a:ext cx="38100" cy="6477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400" y="5429250"/>
            <a:ext cx="91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4950" y="5429250"/>
            <a:ext cx="1013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课表不是新做的表，而是把已有的课程与场馆预约聚合成一张周视图，因此不会数据不一致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来源：需求 REQ-B3-007/008、REQ-B6-007、REQ-M0-010 · 单元 TT-01~11、集成 IT-113~128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超级管理员：账号管理与密码安全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1028700"/>
            <a:ext cx="5524500" cy="28575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0550" y="1219200"/>
            <a:ext cx="5105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新增最高权限角色 superadmin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1638300"/>
            <a:ext cx="5105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· 查看全部账号：用户名、姓名、角色、数据归属、状态、密码状态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" y="2171700"/>
            <a:ext cx="5105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· 重置任意账号密码 → 重置为默认密码并当场返回新密码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2705100"/>
            <a:ext cx="5105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· 启用 / 停用账号（不能停用自己，也不能停用其他超管）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3238500"/>
            <a:ext cx="5105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1A2230"/>
                </a:solidFill>
                <a:latin typeface="Microsoft YaHei"/>
              </a:rPr>
              <a:t>· 全部操作写入审计日志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0550" y="3067050"/>
          <a:ext cx="5105398" cy="666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289"/>
                <a:gridCol w="1760482"/>
                <a:gridCol w="1496410"/>
                <a:gridCol w="792217"/>
              </a:tblGrid>
              <a:tr h="33337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</a:rPr>
                        <a:t>访问账号接口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</a:rPr>
                        <a:t>超级管理员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</a:rPr>
                        <a:t>管理员 / 店长 / 会员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</a:rPr>
                        <a:t>未登录</a:t>
                      </a:r>
                    </a:p>
                  </a:txBody>
                  <a:tcPr marL="76200" marR="76200" marT="28575" marB="28575" anchor="ctr">
                    <a:solidFill>
                      <a:srgbClr val="0E3F8C"/>
                    </a:solidFill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200，返回账号列表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403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5" b="0">
                          <a:solidFill>
                            <a:srgbClr val="1A2230"/>
                          </a:solidFill>
                          <a:latin typeface="Microsoft YaHei"/>
                        </a:rPr>
                        <a:t>401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096000" y="1028700"/>
            <a:ext cx="5715000" cy="2857500"/>
          </a:xfrm>
          <a:prstGeom prst="roundRect">
            <a:avLst>
              <a:gd name="adj" fmla="val 4000"/>
            </a:avLst>
          </a:prstGeom>
          <a:solidFill>
            <a:srgbClr val="FFF8E7"/>
          </a:solidFill>
          <a:ln w="12700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0" y="1028700"/>
            <a:ext cx="38100" cy="2857500"/>
          </a:xfrm>
          <a:prstGeom prst="rect">
            <a:avLst/>
          </a:prstGeom>
          <a:solidFill>
            <a:srgbClr val="C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200150"/>
            <a:ext cx="52959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8A5A12"/>
                </a:solidFill>
                <a:latin typeface="Microsoft YaHei"/>
              </a:rPr>
              <a:t>为什么看不到"所有人的明文密码"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1600200"/>
            <a:ext cx="5295900" cy="2152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75" b="0">
                <a:solidFill>
                  <a:srgbClr val="5C4212"/>
                </a:solidFill>
                <a:latin typeface="Microsoft YaHei"/>
              </a:rPr>
              <a:t>密码以 BCrypt 哈希存储，单向不可逆 —— 系统没有、也不可能有"查看明文密码"的接口。</a:t>
            </a:r>
          </a:p>
          <a:p>
            <a:pPr algn="l">
              <a:lnSpc>
                <a:spcPct val="142000"/>
              </a:lnSpc>
            </a:pPr>
            <a:r>
              <a:rPr sz="1275" b="0">
                <a:solidFill>
                  <a:srgbClr val="5C4212"/>
                </a:solidFill>
                <a:latin typeface="Microsoft YaHe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275" b="0">
                <a:solidFill>
                  <a:srgbClr val="5C4212"/>
                </a:solidFill>
                <a:latin typeface="Microsoft YaHei"/>
              </a:rPr>
              <a:t>这不是功能缺失，而是安全底线：一旦密码可明文导出，一处泄露就等于全站失守，</a:t>
            </a:r>
          </a:p>
          <a:p>
            <a:pPr algn="l">
              <a:lnSpc>
                <a:spcPct val="142000"/>
              </a:lnSpc>
            </a:pPr>
            <a:r>
              <a:rPr sz="1275" b="0">
                <a:solidFill>
                  <a:srgbClr val="5C4212"/>
                </a:solidFill>
                <a:latin typeface="Microsoft YaHei"/>
              </a:rPr>
              <a:t>而且谁看过谁也说不清。</a:t>
            </a:r>
          </a:p>
          <a:p>
            <a:pPr algn="l">
              <a:lnSpc>
                <a:spcPct val="142000"/>
              </a:lnSpc>
            </a:pPr>
            <a:r>
              <a:rPr sz="1275" b="0">
                <a:solidFill>
                  <a:srgbClr val="5C4212"/>
                </a:solidFill>
                <a:latin typeface="Microsoft YaHe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275" b="0">
                <a:solidFill>
                  <a:srgbClr val="5C4212"/>
                </a:solidFill>
                <a:latin typeface="Microsoft YaHei"/>
              </a:rPr>
              <a:t>正确做法是「重置」：超管重置某账号后，系统把新密码返回给超管，</a:t>
            </a:r>
          </a:p>
          <a:p>
            <a:pPr algn="l">
              <a:lnSpc>
                <a:spcPct val="142000"/>
              </a:lnSpc>
            </a:pPr>
            <a:r>
              <a:rPr sz="1275" b="0">
                <a:solidFill>
                  <a:srgbClr val="5C4212"/>
                </a:solidFill>
                <a:latin typeface="Microsoft YaHei"/>
              </a:rPr>
              <a:t>管理员始终掌握可登录凭据，同时不破坏密码存储的安全前提。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4038600"/>
            <a:ext cx="11430000" cy="647700"/>
          </a:xfrm>
          <a:prstGeom prst="roundRect">
            <a:avLst>
              <a:gd name="adj" fmla="val 11764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1000" y="4038600"/>
            <a:ext cx="38100" cy="6477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4038600"/>
            <a:ext cx="91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950" y="4038600"/>
            <a:ext cx="1013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宁可少一个"看起来很方便"的功能，也不让全站密码变成可导出的明文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838700"/>
            <a:ext cx="11430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 b="0">
                <a:solidFill>
                  <a:srgbClr val="4A5568"/>
                </a:solidFill>
                <a:latin typeface="Microsoft YaHei"/>
              </a:rPr>
              <a:t>演示账号：superadmin / 123456（超级管理员）　manager / 123456（店长）　admin / 123456（管理员）　member1 / 123456（会员）　coach1 / 123456（教练）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来源：需求 REQ-M0-006~009 · 迁移 V12 · 集成 IT-097~112、浏览器 BT-098~104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8250"/>
            <a:ext cx="12192000" cy="304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0" b="1">
                <a:solidFill>
                  <a:srgbClr val="E8EFF8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286000"/>
            <a:ext cx="952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3D7BD9"/>
                </a:solidFill>
                <a:latin typeface="Microsoft YaHei"/>
              </a:rPr>
              <a:t>第四部分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686050"/>
            <a:ext cx="9525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50" b="1">
                <a:solidFill>
                  <a:srgbClr val="0E3F8C"/>
                </a:solidFill>
                <a:latin typeface="Microsoft YaHei"/>
              </a:rPr>
              <a:t>质量保障与测试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600450"/>
            <a:ext cx="11430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5000" y="38100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75" b="0">
                <a:solidFill>
                  <a:srgbClr val="4A5568"/>
                </a:solidFill>
                <a:latin typeface="Microsoft YaHei"/>
              </a:rPr>
              <a:t>测试不只是"跑通了"：六层检查全部可复现，缺陷都能说出根因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67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67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六层检查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880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880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缺陷根因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008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08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防回归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374 项检查，覆盖七个层次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1028700"/>
            <a:ext cx="4000500" cy="4305300"/>
          </a:xfrm>
          <a:prstGeom prst="roundRect">
            <a:avLst>
              <a:gd name="adj" fmla="val 2857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390650"/>
            <a:ext cx="3619500" cy="144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700" b="1">
                <a:solidFill>
                  <a:srgbClr val="0E3F8C"/>
                </a:solidFill>
                <a:latin typeface="Microsoft YaHei"/>
              </a:rPr>
              <a:t>374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14650"/>
            <a:ext cx="3619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1A2230"/>
                </a:solidFill>
                <a:latin typeface="Microsoft YaHei"/>
              </a:rPr>
              <a:t>项自动化检查全部通过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390900"/>
            <a:ext cx="36195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25" b="0">
                <a:solidFill>
                  <a:srgbClr val="4A5568"/>
                </a:solidFill>
                <a:latin typeface="Microsoft YaHei"/>
              </a:rPr>
              <a:t>从单元测试到真实浏览器点击、再到二维码反解，</a:t>
            </a:r>
          </a:p>
          <a:p>
            <a:pPr algn="l">
              <a:lnSpc>
                <a:spcPct val="160000"/>
              </a:lnSpc>
            </a:pPr>
            <a:r>
              <a:rPr sz="1425" b="0">
                <a:solidFill>
                  <a:srgbClr val="4A5568"/>
                </a:solidFill>
                <a:latin typeface="Microsoft YaHei"/>
              </a:rPr>
              <a:t>每一层都有可复现的执行命令与</a:t>
            </a:r>
          </a:p>
          <a:p>
            <a:pPr algn="l">
              <a:lnSpc>
                <a:spcPct val="160000"/>
              </a:lnSpc>
            </a:pPr>
            <a:r>
              <a:rPr sz="1425" b="0">
                <a:solidFill>
                  <a:srgbClr val="4A5568"/>
                </a:solidFill>
                <a:latin typeface="Microsoft YaHei"/>
              </a:rPr>
              <a:t>报告文件，答辩现场可逐条演示。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0100" y="1028700"/>
            <a:ext cx="7200900" cy="628650"/>
          </a:xfrm>
          <a:prstGeom prst="roundRect">
            <a:avLst>
              <a:gd name="adj" fmla="val 15151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8700" y="1028700"/>
            <a:ext cx="5334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0">
                <a:solidFill>
                  <a:srgbClr val="1A2230"/>
                </a:solidFill>
                <a:latin typeface="Microsoft YaHei"/>
              </a:rPr>
              <a:t>Java 单元 · 架构守卫 · 行为驱动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1028700"/>
            <a:ext cx="1333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</a:rPr>
              <a:t>88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0100" y="1752600"/>
            <a:ext cx="7200900" cy="628650"/>
          </a:xfrm>
          <a:prstGeom prst="roundRect">
            <a:avLst>
              <a:gd name="adj" fmla="val 15151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38700" y="1752600"/>
            <a:ext cx="5334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0">
                <a:solidFill>
                  <a:srgbClr val="1A2230"/>
                </a:solidFill>
                <a:latin typeface="Microsoft YaHei"/>
              </a:rPr>
              <a:t>集成测试（登录/权限/账号/课表）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1752600"/>
            <a:ext cx="1333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</a:rPr>
              <a:t>130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0100" y="2476500"/>
            <a:ext cx="7200900" cy="628650"/>
          </a:xfrm>
          <a:prstGeom prst="roundRect">
            <a:avLst>
              <a:gd name="adj" fmla="val 15151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8700" y="2476500"/>
            <a:ext cx="5334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0">
                <a:solidFill>
                  <a:srgbClr val="1A2230"/>
                </a:solidFill>
                <a:latin typeface="Microsoft YaHei"/>
              </a:rPr>
              <a:t>前端静态检查（防按钮无响应）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2476500"/>
            <a:ext cx="1333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0100" y="3200400"/>
            <a:ext cx="7200900" cy="628650"/>
          </a:xfrm>
          <a:prstGeom prst="roundRect">
            <a:avLst>
              <a:gd name="adj" fmla="val 15151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8700" y="3200400"/>
            <a:ext cx="5334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0">
                <a:solidFill>
                  <a:srgbClr val="1A2230"/>
                </a:solidFill>
                <a:latin typeface="Microsoft YaHei"/>
              </a:rPr>
              <a:t>真实浏览器测试（含课表与账号管理）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3200400"/>
            <a:ext cx="1333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</a:rPr>
              <a:t>109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0100" y="3924300"/>
            <a:ext cx="7200900" cy="628650"/>
          </a:xfrm>
          <a:prstGeom prst="roundRect">
            <a:avLst>
              <a:gd name="adj" fmla="val 15151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8700" y="3924300"/>
            <a:ext cx="5334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0">
                <a:solidFill>
                  <a:srgbClr val="1A2230"/>
                </a:solidFill>
                <a:latin typeface="Microsoft YaHei"/>
              </a:rPr>
              <a:t>二维码结构校验（反解还原）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3924300"/>
            <a:ext cx="1333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0100" y="4648200"/>
            <a:ext cx="7200900" cy="628650"/>
          </a:xfrm>
          <a:prstGeom prst="roundRect">
            <a:avLst>
              <a:gd name="adj" fmla="val 15151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8700" y="4648200"/>
            <a:ext cx="5334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0">
                <a:solidFill>
                  <a:srgbClr val="1A2230"/>
                </a:solidFill>
                <a:latin typeface="Microsoft YaHei"/>
              </a:rPr>
              <a:t>参考实现 BDD + 接口冒烟（对照）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4648200"/>
            <a:ext cx="1333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</a:rPr>
              <a:t>18 ／ 18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" y="5505450"/>
            <a:ext cx="11430000" cy="590550"/>
          </a:xfrm>
          <a:prstGeom prst="roundRect">
            <a:avLst>
              <a:gd name="adj" fmla="val 12903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1000" y="5505450"/>
            <a:ext cx="38100" cy="5905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400" y="5505450"/>
            <a:ext cx="914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4950" y="5505450"/>
            <a:ext cx="10134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测试要能挡住"点了没反应"这类问题，所以既做静态检查，也做真实浏览器点击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来源：五份测试报告文件（verify/ 与 app/ 目录）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17 个缺陷：把踩过的坑讲清楚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1028700"/>
            <a:ext cx="2381250" cy="1104900"/>
          </a:xfrm>
          <a:prstGeom prst="roundRect">
            <a:avLst>
              <a:gd name="adj" fmla="val 86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0550" y="116205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D9534F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17335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严重缺陷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4650" y="1028700"/>
            <a:ext cx="2381250" cy="1104900"/>
          </a:xfrm>
          <a:prstGeom prst="roundRect">
            <a:avLst>
              <a:gd name="adj" fmla="val 86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4200" y="116205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1E4FA8"/>
                </a:solidFill>
                <a:latin typeface="Microsoft YaHe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17335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中等缺陷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8300" y="1028700"/>
            <a:ext cx="2381250" cy="1104900"/>
          </a:xfrm>
          <a:prstGeom prst="roundRect">
            <a:avLst>
              <a:gd name="adj" fmla="val 862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7850" y="116205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4A5568"/>
                </a:solidFill>
                <a:latin typeface="Microsoft YaHe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7850" y="17335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轻微缺陷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1950" y="1028700"/>
            <a:ext cx="38290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全部已修复</a:t>
            </a:r>
          </a:p>
          <a:p>
            <a:pPr algn="l">
              <a:lnSpc>
                <a:spcPct val="150000"/>
              </a:lnSpc>
            </a:pPr>
            <a:r>
              <a:rPr sz="1650" b="1">
                <a:solidFill>
                  <a:srgbClr val="0E3F8C"/>
                </a:solidFill>
                <a:latin typeface="Microsoft YaHei"/>
              </a:rPr>
              <a:t>并补充了防回归手段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2324100"/>
            <a:ext cx="11430000" cy="100965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" y="2647950"/>
            <a:ext cx="666750" cy="361950"/>
          </a:xfrm>
          <a:prstGeom prst="roundRect">
            <a:avLst>
              <a:gd name="adj" fmla="val 21052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2647950"/>
            <a:ext cx="666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75" b="1">
                <a:solidFill>
                  <a:srgbClr val="FFFFFF"/>
                </a:solidFill>
                <a:latin typeface="Microsoft YaHei"/>
              </a:rPr>
              <a:t>严重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2457450"/>
            <a:ext cx="101917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1A2230"/>
                </a:solidFill>
                <a:latin typeface="Microsoft YaHei"/>
              </a:rPr>
              <a:t>账号初始化不幂等，后端第二次启动直接失败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2819400"/>
            <a:ext cx="10191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A5568"/>
                </a:solidFill>
                <a:latin typeface="Microsoft YaHei"/>
              </a:rPr>
              <a:t>重复绑角色触发主键冲突，事务被标记回滚 → 改为 SQL 层幂等写入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000" y="3448050"/>
            <a:ext cx="11430000" cy="100965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1500" y="3771900"/>
            <a:ext cx="666750" cy="361950"/>
          </a:xfrm>
          <a:prstGeom prst="roundRect">
            <a:avLst>
              <a:gd name="adj" fmla="val 21052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" y="3771900"/>
            <a:ext cx="666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75" b="1">
                <a:solidFill>
                  <a:srgbClr val="FFFFFF"/>
                </a:solidFill>
                <a:latin typeface="Microsoft YaHei"/>
              </a:rPr>
              <a:t>中等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3581400"/>
            <a:ext cx="101917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1A2230"/>
                </a:solidFill>
                <a:latin typeface="Microsoft YaHei"/>
              </a:rPr>
              <a:t>字符串预约号未加引号，按钮点了没反应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3943350"/>
            <a:ext cx="10191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A5568"/>
                </a:solidFill>
                <a:latin typeface="Microsoft YaHei"/>
              </a:rPr>
              <a:t>前端拼接事件参数时少了引号，被当成变量 → 修复并加静态检查永久防回归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000" y="4572000"/>
            <a:ext cx="11430000" cy="100965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1500" y="4895850"/>
            <a:ext cx="666750" cy="361950"/>
          </a:xfrm>
          <a:prstGeom prst="roundRect">
            <a:avLst>
              <a:gd name="adj" fmla="val 21052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" y="4895850"/>
            <a:ext cx="666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75" b="1">
                <a:solidFill>
                  <a:srgbClr val="FFFFFF"/>
                </a:solidFill>
                <a:latin typeface="Microsoft YaHei"/>
              </a:rPr>
              <a:t>中等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9700" y="4705350"/>
            <a:ext cx="101917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 b="1">
                <a:solidFill>
                  <a:srgbClr val="1A2230"/>
                </a:solidFill>
                <a:latin typeface="Microsoft YaHei"/>
              </a:rPr>
              <a:t>切换标签时的请求竞态，面板偶发空白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9700" y="5067300"/>
            <a:ext cx="10191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A5568"/>
                </a:solidFill>
                <a:latin typeface="Microsoft YaHei"/>
              </a:rPr>
              <a:t>自动加载的旧响应覆盖了新结果 → 统一响应结构并丢弃过期响应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" y="5695950"/>
            <a:ext cx="11430000" cy="438150"/>
          </a:xfrm>
          <a:prstGeom prst="roundRect">
            <a:avLst>
              <a:gd name="adj" fmla="val 17391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1000" y="5695950"/>
            <a:ext cx="38100" cy="4381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400" y="5695950"/>
            <a:ext cx="9144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判断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4950" y="5695950"/>
            <a:ext cx="101346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能复现、能定位、能防回归，缺陷才是资产；只写"已修复"等于没讲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来源：系统测试文档 · 缺陷记录章节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8250"/>
            <a:ext cx="12192000" cy="304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0" b="1">
                <a:solidFill>
                  <a:srgbClr val="E8EFF8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286000"/>
            <a:ext cx="952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3D7BD9"/>
                </a:solidFill>
                <a:latin typeface="Microsoft YaHei"/>
              </a:rPr>
              <a:t>第五部分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686050"/>
            <a:ext cx="9525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50" b="1">
                <a:solidFill>
                  <a:srgbClr val="0E3F8C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600450"/>
            <a:ext cx="11430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5000" y="38100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75" b="0">
                <a:solidFill>
                  <a:srgbClr val="4A5568"/>
                </a:solidFill>
                <a:latin typeface="Microsoft YaHei"/>
              </a:rPr>
              <a:t>做完的说清楚，没做完的也交代明白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67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67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已完成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880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880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未完成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00850" y="4629150"/>
            <a:ext cx="10287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0850" y="462915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没做完的部分，以及下一步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>
                <a:solidFill>
                  <a:srgbClr val="BFD3F0"/>
                </a:solidFill>
                <a:latin typeface="Microsoft YaHei"/>
              </a:rPr>
              <a:t>健身房运营管理系统 · 课程答辩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1028700"/>
            <a:ext cx="6667500" cy="4305300"/>
          </a:xfrm>
          <a:prstGeom prst="roundRect">
            <a:avLst>
              <a:gd name="adj" fmla="val 2654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0550" y="1219200"/>
            <a:ext cx="62484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E3F8C"/>
                </a:solidFill>
                <a:latin typeface="Microsoft YaHei"/>
              </a:rPr>
              <a:t>已完成并验证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550" y="1676400"/>
            <a:ext cx="62484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050" y="1676400"/>
            <a:ext cx="5905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✓  S1 约课与签到主线（含取消与爽约惩罚）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0550" y="2381250"/>
            <a:ext cx="62484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050" y="2381250"/>
            <a:ext cx="5905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✓  S2 收费：下单、支付、回调幂等、异常订单、对账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0550" y="3086100"/>
            <a:ext cx="62484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050" y="3086100"/>
            <a:ext cx="5905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✓  S4 预警：流失风险、爽约预测、新会员跟进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0550" y="3790950"/>
            <a:ext cx="62484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050" y="3790950"/>
            <a:ext cx="5905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✓  登录与角色鉴权（服务端强制，越权拦截已测）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0550" y="4495800"/>
            <a:ext cx="62484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050" y="4495800"/>
            <a:ext cx="5905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✓  七层 244 项自动化检查 + 一键启动脚本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7100" y="1028700"/>
            <a:ext cx="45339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6650" y="1219200"/>
            <a:ext cx="41148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仅有表结构与骨架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650" y="1619250"/>
            <a:ext cx="4114800" cy="1276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S5 设备与工单：已完成数据库设计与迁移（V5），Java 侧仅保留模块骨架，尚未实现业务逻辑。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7100" y="3276600"/>
            <a:ext cx="45339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6650" y="3467100"/>
            <a:ext cx="41148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1">
                <a:solidFill>
                  <a:srgbClr val="0E3F8C"/>
                </a:solidFill>
                <a:latin typeface="Microsoft YaHei"/>
              </a:rPr>
              <a:t>完全未开始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6650" y="3867150"/>
            <a:ext cx="4114800" cy="1276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25" b="0">
                <a:solidFill>
                  <a:srgbClr val="1A2230"/>
                </a:solidFill>
                <a:latin typeface="Microsoft YaHei"/>
              </a:rPr>
              <a:t>真实微信支付对接（当前为 Mock 回调）、JWT 无状态令牌（当前为内存会话）、CI 流水线。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5505450"/>
            <a:ext cx="11430000" cy="590550"/>
          </a:xfrm>
          <a:prstGeom prst="roundRect">
            <a:avLst>
              <a:gd name="adj" fmla="val 12903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1000" y="5505450"/>
            <a:ext cx="38100" cy="5905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5505450"/>
            <a:ext cx="914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</a:rPr>
              <a:t>下一步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50" y="5505450"/>
            <a:ext cx="10134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先补 S5 业务逻辑，再把会话改为 JWT，最后接入支付沙箱与 CI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6286500"/>
            <a:ext cx="1143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000" y="63246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来源：代码实现与测试报告 · 开放问题台账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0" y="6324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5715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3500" y="1905000"/>
            <a:ext cx="9525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500" b="1">
                <a:solidFill>
                  <a:srgbClr val="0E3F8C"/>
                </a:solidFill>
                <a:latin typeface="Microsoft YaHei"/>
              </a:rPr>
              <a:t>谢谢聆听，请老师指正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5238750" y="3009900"/>
            <a:ext cx="17145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4500" y="333375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950" b="0">
                <a:solidFill>
                  <a:srgbClr val="1A2230"/>
                </a:solidFill>
                <a:latin typeface="Microsoft YaHei"/>
              </a:rPr>
              <a:t>需求可追溯 · 系统可运行 · 质量可复现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4191000"/>
            <a:ext cx="8763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sz="1425" b="0">
                <a:solidFill>
                  <a:srgbClr val="4A5568"/>
                </a:solidFill>
                <a:latin typeface="Microsoft YaHei"/>
              </a:rPr>
              <a:t>项目文档与代码已托管至版本仓库，包含需求、设计、测试与运行手册；需要现场演示可随时切换。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3500" y="6096000"/>
            <a:ext cx="9525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25" b="0">
                <a:solidFill>
                  <a:srgbClr val="8B97A8"/>
                </a:solidFill>
                <a:latin typeface="Microsoft YaHei"/>
              </a:rPr>
              <a:t>健身房运营管理系统 · 课程答辩 · 2026 年 10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
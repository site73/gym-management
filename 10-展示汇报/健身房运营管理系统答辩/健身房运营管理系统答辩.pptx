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571500"/>
            <a:ext cx="9525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3D7BD9"/>
                </a:solidFill>
                <a:latin typeface="Microsoft YaHei"/>
              </a:rPr>
              <a:t>课程大作业答辩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90600"/>
            <a:ext cx="11049000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400" b="1">
                <a:solidFill>
                  <a:srgbClr val="0E3F8C"/>
                </a:solidFill>
                <a:latin typeface="Microsoft YaHei"/>
              </a:rPr>
              <a:t>健身房运营管理系统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000250"/>
            <a:ext cx="1104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50" b="0">
                <a:solidFill>
                  <a:srgbClr val="4A5568"/>
                </a:solidFill>
                <a:latin typeface="Microsoft YaHei"/>
              </a:rPr>
              <a:t>Gym Operation Management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8750" y="260985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2819400"/>
            <a:ext cx="9525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725" b="0">
                <a:solidFill>
                  <a:srgbClr val="1A2230"/>
                </a:solidFill>
                <a:latin typeface="Microsoft YaHei"/>
              </a:rPr>
              <a:t>从业务梳理到可运行系统：需求可追溯 · 系统可运行 · 质量可复现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67250"/>
            <a:ext cx="12192000" cy="21907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汇报人：＿＿＿＿＿＿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学号：＿＿＿＿＿＿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指导教师：＿＿＿＿＿＿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日期：2026 年 10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60960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技术栈：Spring Boot 3 · MySQL 8.0 · 174 项自动化检查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195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81250"/>
            <a:ext cx="27622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405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48000"/>
            <a:ext cx="27622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BFD3F0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448050"/>
            <a:ext cx="838200" cy="381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95700"/>
            <a:ext cx="27813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BFD3F0"/>
                </a:solidFill>
                <a:latin typeface="Microsoft YaHei"/>
              </a:rPr>
              <a:t>五个部分，从业务理解一路讲到测试证据与后续规划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6700" y="115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67200" y="134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200" y="134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5850" y="128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50" y="160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业务定位 → 业务基线 → 流程优化 → 需求追溯（第 3–6 页）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6700" y="2105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7200" y="2295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200" y="2295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5850" y="2238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5850" y="2562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模块边界 → 数据设计 → 工程环境（第 7–10 页）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6700" y="3057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7200" y="3248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7200" y="3248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5850" y="3190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5850" y="3514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规则外置 → 角色鉴权 → 约课主链路 → 两项创新点（第 11–16 页）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76700" y="4010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67200" y="4200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4200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5850" y="4143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5850" y="4467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六层 174 项检查 → 缺陷根因与修复（第 17–19 页）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76700" y="496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67200" y="515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7200" y="515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5850" y="509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5850" y="541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已完成 / 未完成 / 下一步（第 20–21 页）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第一部分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81000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先回答"这家健身房是怎么运转的"，再回答"系统要做什么"——需求来自业务基线，而不是功能清单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流程梳理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需求追溯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为什么要重做这套系统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85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门店里真实存在的四类麻烦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" y="17335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3450" y="14478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排课靠电话和微信群：高峰期漏记、重复记，改一次课要通知一圈人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3812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3400" y="2667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3812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爽约没有任何代价：名额被占着不来，真正想练的人反而约不上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3147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400" y="36004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33147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会籍到期没人盯：续费全靠店员记性，会员流失了才被发现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42481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3400" y="4533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" y="42481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课消与收费对不上：月底靠 Excel 手工核，差错出现后无法追溯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12192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共同缺口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9050" y="16192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四件事各自记录、彼此不通：约课、签到、课消、收费之间没有闭环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30480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9050" y="32385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所以目标不是"做个 App"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9050" y="36385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4A5568"/>
                </a:solidFill>
                <a:latin typeface="Microsoft YaHei"/>
              </a:rPr>
              <a:t>而是把 预约 → 到场 → 课消 → 收费 串成一条可查、可约束、可预警的链路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52959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52959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52959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4950" y="52959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要先补齐"约课与课消之间的闭环"，而不是先堆功能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来源：业务分析报告 · 业务基线 V1.0（项目真实文档）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90550"/>
            <a:ext cx="5905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D7BD9"/>
                </a:solidFill>
                <a:latin typeface="Microsoft YaHei"/>
              </a:rPr>
              <a:t>业务理解方法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E3F8C"/>
                </a:solidFill>
                <a:latin typeface="Microsoft YaHei"/>
              </a:rPr>
              <a:t>先把业务讲清楚，再谈系统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2100"/>
            <a:ext cx="952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52600"/>
            <a:ext cx="58293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我们没有一上来就列功能，而是先做业务定位：明确这家健身房靠什么赚钱、会员从进门到上课要经过哪些环节。随后把现状写成业务基线（V0.1 → 确认版 V1.0），再用流程优化说明找出"哪些环节该由系统承接、哪些仍由人来做"，最后才产出需求。这样做的好处很直接——每一条需求都能回答"它来自哪个业务环节"。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① 业务定位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69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69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② 业务基线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6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③ 流程优化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63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④ 人机分工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58293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625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7625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150" y="4762500"/>
            <a:ext cx="4533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先有业务基线，再有需求；需求再向下追溯到规则与测试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0"/>
            <a:ext cx="5524500" cy="62103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0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873" y="266700"/>
            <a:ext cx="4311754" cy="5429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67500" y="5829300"/>
            <a:ext cx="5524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图：B0 总体业务流程图（项目真实产出）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来源：业务基线 V1.0 · 业务流程优化说明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需求不是清单，是可追溯的链条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1066800"/>
          <a:ext cx="11430000" cy="354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9500"/>
                <a:gridCol w="1809750"/>
                <a:gridCol w="2857500"/>
                <a:gridCol w="3143250"/>
              </a:tblGrid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业务目标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系统需求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关键规则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验收测试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会员只能约有效会籍的课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SYS-R1 / SYS-R2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课程不满员且无时间冲突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约课取消必须释放名额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累计爽约要有限制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会籍到期要有人提醒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REQ-B5-003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membership.feature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9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流失与爽约要能预警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SYS-R7 / R8 / R9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warning.feature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8768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8768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8768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作用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8768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任一需求都能回答三件事：为什么做、由哪条规则约束、用哪个用例验收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来源：业务—系统需求追溯矩阵 · 关键规则—需求—测试溯源表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第二部分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把业务规则放进确定的模块边界里：每一层只依赖契约，不依赖实现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模块边界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接口契约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数据设计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工程环境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7810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12 个模块，靠契约而不是靠自觉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247650"/>
            <a:ext cx="3619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02 系统设计与架构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914400"/>
            <a:ext cx="6477000" cy="46291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8" y="1047750"/>
            <a:ext cx="593162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162550"/>
            <a:ext cx="647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图：系统架构图（项目真实产出）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0" y="914400"/>
            <a:ext cx="46863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模块划分（com.gym.*）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2470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1995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identity 身份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595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membership 会籍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2470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995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course 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595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booking 约课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2470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995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payment 收费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595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warning 预警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70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995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report 报表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95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assessment 业绩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470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995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equipment 设备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595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system 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2470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995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shared 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595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app 启动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4700" y="3829050"/>
            <a:ext cx="46863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每个模块只暴露 api 包下的契约接口，internal 包对外不可见；跨模块调用一律走契约，禁止直连对方数据表。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24700" y="5029200"/>
            <a:ext cx="4686300" cy="514350"/>
          </a:xfrm>
          <a:prstGeom prst="roundRect">
            <a:avLst>
              <a:gd name="adj" fmla="val 1481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24700" y="5029200"/>
            <a:ext cx="38100" cy="514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7100" y="50292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守边界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8650" y="50292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模块边界不靠代码评审守，靠自动化架构测试守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来源：系统结构设计说明 · 代码结构与模块划分说明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26 张表与 9 次迁移收敛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pic>
        <p:nvPicPr>
          <p:cNvPr id="5" name="Picture 4" descr="db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88" y="1219200"/>
            <a:ext cx="6462024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43250" y="529590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图：数据库表结构总览（项目真实产出）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4287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0E3F8C"/>
                </a:solidFill>
                <a:latin typeface="Microsoft YaHe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2288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张数据表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5527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覆盖会籍 / 约课 / 收费 / 预警 / 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450" y="35242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3243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次版本化迁移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46482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V1–V10，结构变更全部可回放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6450" y="14478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规则参数外置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6450" y="18478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阈值不写死在代码里，改参数不动代码、不发版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5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6450" y="35433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禁止手工改库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6450" y="39433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任何结构变更都要落成迁移脚本，保证环境间一致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3911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3911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3911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3911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结构演进必须可回放，所以用版本化迁移而不是手工改库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来源：数据库设计说明 · 业务数据初始化与迁移方案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零成本环境与可复现构建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技术选型与理由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5430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Spring Boot 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9050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分层清晰、生态成熟，适合把业务规则做成可测试的模块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6289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27622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MySQL 8.0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1242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关系模型贴合会籍/约课/收费的强约束场景，迁移工具成熟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8481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39814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原生前端单页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3434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减少构建链依赖，答辩现场不受环境与网络影响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0" y="12192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便携环境（全部在 E 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1600200"/>
            <a:ext cx="40005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JDK 17 · Maven · MySQL · Node 合计约 1.8 GB，C 盘写入为零；环境变量只在命令行临时生效，不改系统设置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086100"/>
            <a:ext cx="43815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0" y="32766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一键启动（三步合一）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0" y="3657600"/>
            <a:ext cx="4000500" cy="1162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双击一个脚本：启动数据库 → 等待就绪 → 启动后端 → 自动打开浏览器；数据库起不来会自动回退到免数据库模式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2197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2197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2197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2197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演示环境可复现，答辩当天不依赖现场配置与网络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来源：部署方案设计 · 本地运行手册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第三部分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规则外置、权限服务端强制、主链路的异常分支同样要有明确语义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规则外置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角色鉴权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约课主链路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两项创新点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10 条业务规则，改阈值不用发版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03 关键实现与业务规则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914400"/>
          <a:ext cx="1143000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/>
                <a:gridCol w="2381250"/>
                <a:gridCol w="3429000"/>
                <a:gridCol w="4572000"/>
              </a:tblGrid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规则名称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关键参数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会籍有效期校验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requireStatus = active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过期会籍不可约课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SYS-R2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请假冻结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maxDays = 90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冻结期间不可约课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约课上限与冲突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容量校验 + 时间冲突校验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不超卖、不撞课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爽约惩罚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N = 3 次，限制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让爽约有代价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SYS-R5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私教课包核销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每次核销 1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课消与课包对齐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到期提醒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 D =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续费有人跟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SYS-R7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流失风险规则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4 周未到店 或 爽约率&gt;30%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生成跟进任务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SYS-R8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爽约预测规则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阈值 T = 0.60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提前处置名额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SYS-R9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新会员首月跟进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30 天内到店 &lt; 2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新客不流失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私教业绩提成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按课时计，比例 20%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业绩可核算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9530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9530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9530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9530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规则参数集中在 rule_config 表里，运营改参数不动代码——这才是"规则可配置"的落地方式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来源：rule_config 种子数据（项目真实配置）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一个入口，三种角色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7048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登录后按角色进入对应界面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E8EFF8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0002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我的会籍 · 约课 · 扫码签到 · 取消预约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9500" y="16002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0" y="16002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账号：member1 / member2　密码：123456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6670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8194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32194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约课管理 · 收费对账 · 风险预测 · 业绩提成 · 摘要审计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9500" y="28194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0" y="28194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账号：manager　密码：123456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8862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40386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 + 系统管理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550" y="44386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在店长权限之上，可重置演示数据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9500" y="40386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0" y="40386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账号：admin　密码：123456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143500"/>
            <a:ext cx="70485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1435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1435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143500"/>
            <a:ext cx="57531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权限必须在服务端强制，前端隐藏按钮不算权限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4300" y="1028700"/>
            <a:ext cx="4076700" cy="4819650"/>
          </a:xfrm>
          <a:prstGeom prst="roundRect">
            <a:avLst>
              <a:gd name="adj" fmla="val 2803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3850" y="1219200"/>
            <a:ext cx="3657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服务端强制的三种结果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43850" y="16764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5300" y="18097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4A5568"/>
                </a:solidFill>
                <a:latin typeface="Microsoft YaHei"/>
              </a:rPr>
              <a:t>401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5300" y="22860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未登录或令牌过期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302895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5300" y="316230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D9534F"/>
                </a:solidFill>
                <a:latin typeface="Microsoft YaHei"/>
              </a:rPr>
              <a:t>403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5300" y="363855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越权访问他人数据、会员调用门店接口、非管理员执行重置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43850" y="43815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5300" y="45148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4FA8"/>
                </a:solidFill>
                <a:latin typeface="Microsoft YaHei"/>
              </a:rPr>
              <a:t>409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5300" y="49911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重复签到、重复取消、状态不允许的操作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3850" y="5715000"/>
            <a:ext cx="3657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均已编写集成用例验证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集成测试报告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约课主链路：约、到、退、罚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预约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有效会籍 + 不满员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+ 无时间冲突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重复提交保持幂等：返回同一预约号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56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42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42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76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签到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42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扫码或前台代签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状态改为已签到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56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71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重复签到返回 409，不再重复核销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89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23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仅未签到可取消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名额立即释放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3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17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重复取消返回 409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49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535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35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9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爽约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35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未签到判爽约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累计达 3 次受限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249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64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重复判定返回 409，限制 7 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152900"/>
            <a:ext cx="1143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同一个动作的异常分支，语义必须明确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" y="4572000"/>
            <a:ext cx="114300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1000" y="45720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3400" y="45720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4950" y="4572000"/>
            <a:ext cx="101346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主链路的完成度不看正常路径，而看异常路径：幂等、重复操作、状态冲突都要有确定结果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来源：booking.feature · attendance.feature（真实执行 18 个场景）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创新点一：把"会员会流失"变成可执行任务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SYS-R7 / SYS-R9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07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连续未到店即判高风险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69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39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近 30 天爽约率阈值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34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01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31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01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可自动生成的跟进任务类型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5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命中判据（任一成立即生成任务）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① 连续 4 周未到店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② 近 30 天爽约率超过 30%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③ 办卡 30 天内到店不足 2 次（SYS-R9）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8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产出物：一条有人负责的跟进任务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8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任务带会员、命中原因、规则编号与到期时间；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店长在后台直接看到待跟进清单，而不是看一张报表。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4933950"/>
            <a:ext cx="11430000" cy="685800"/>
          </a:xfrm>
          <a:prstGeom prst="roundRect">
            <a:avLst>
              <a:gd name="adj" fmla="val 1111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4933950"/>
            <a:ext cx="38100" cy="6858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93395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4933950"/>
            <a:ext cx="10134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预警的价值在于"生成一条有人负责的任务"，而不是多一个报表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风险扫描实测输出（7 条任务）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创新点二：预测爽约，提前处置名额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095750"/>
          </a:xfrm>
          <a:prstGeom prst="roundRect">
            <a:avLst>
              <a:gd name="adj" fmla="val 279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概率算法（规则式起步，可替换为模型）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0.10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3800" y="16764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基线概率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0550" y="23622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23622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爽约占比 × 0.60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23622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历史爽约次数 / 总次数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0480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0480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800" y="30480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超过 14 天未到店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" y="37338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050" y="37338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3800" y="37338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办卡不超过 30 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" y="44196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050" y="44196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= min(0.99, 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3800" y="44196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上限封顶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7100" y="1028700"/>
            <a:ext cx="45339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86650" y="12192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阈值与动作的对应关系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650" y="1600200"/>
            <a:ext cx="41148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 T = 0.60 来自规则表（可配置）。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且课程已满 → release（释放名额给候补）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且未满 → remind（提前提醒会员）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086100"/>
            <a:ext cx="45339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6650" y="32766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输出的是动作，不只是数字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6650" y="3657600"/>
            <a:ext cx="41148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按概率倒序列出某节课的每位已约会员，附建议动作与会员姓名；店长照着清单打电话或放名额即可。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" y="5257800"/>
            <a:ext cx="11430000" cy="647700"/>
          </a:xfrm>
          <a:prstGeom prst="roundRect">
            <a:avLst>
              <a:gd name="adj" fmla="val 1176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1000" y="5257800"/>
            <a:ext cx="38100" cy="6477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400" y="5257800"/>
            <a:ext cx="914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4950" y="5257800"/>
            <a:ext cx="10134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预测必须落到动作上，否则只是一个好看的百分比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爽约预测接口实测输出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排课、选课与课程维护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525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0550" y="12382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2382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150" y="10858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排课：管理员与店长均可新建课程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14097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填写编号、名称、类型、教练、场地、起止时间与容量；校验编号唯一、时间合法，并按 SYS-R3 检测教练或场地时段冲突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0574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550" y="23431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3431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21907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选课：所有登录用户可自愿报名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25146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会员账号固定作用于本人（伪造 memberId 会被改写）；重复选课幂等，返回同一预约号；会籍过期或爽约受限会被拦截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31623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0550" y="34480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34480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2956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退课：自愿退出，规则明确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150" y="36195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仅「已预约」状态可退；课程开始后不可退；重复退课返回 409；退课后名额立即释放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42672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0550" y="45529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0550" y="45529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0150" y="44005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维护：编辑、下架与重新上架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0150" y="47244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修改时容量不得小于已预约人数；下架为软删除（保留历史预约可追溯），存在待上课预约时拒绝下架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5391150"/>
            <a:ext cx="11430000" cy="609600"/>
          </a:xfrm>
          <a:prstGeom prst="roundRect">
            <a:avLst>
              <a:gd name="adj" fmla="val 12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1000" y="5391150"/>
            <a:ext cx="38100" cy="60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5391150"/>
            <a:ext cx="9144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权限设计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4950" y="5391150"/>
            <a:ext cx="101346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会员调用排课接口返回 403；排课与课程维护对管理员和店长开放，数据重置仍仅管理员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E2 排课与课程维护、E3 会员自愿选课退课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会员注册与前后台联动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096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会员自助注册（免登录）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6954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16954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2050" y="156210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填写信息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050" y="188595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用户名、密码（至少 6 位）、姓名、手机号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49555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" y="2781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278130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050" y="264795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一次事务创建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050" y="297180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登录账号 + 会员档案 + 角色绑定，不留半成品数据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58140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1500" y="38671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38671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2050" y="373380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自动编号并登录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050" y="405765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会员编号自动生成 M001…，注册成功即签发令牌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100" y="1009650"/>
            <a:ext cx="4914900" cy="2209800"/>
          </a:xfrm>
          <a:prstGeom prst="roundRect">
            <a:avLst>
              <a:gd name="adj" fmla="val 5172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5650" y="1200150"/>
            <a:ext cx="4495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门店后台：会员 ↔ 课程联动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5650" y="1581150"/>
            <a:ext cx="4495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① 选中会员卡片 → 每门课出现「为 TA 约课」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② 课程卡显示「已报名（N）：姓名…」与余位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③ 未选会员时只提示，不显示代客按钮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④ 约课 / 签到 / 取消后，预约、余位与名单、已约门数三级联动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96100" y="3333750"/>
            <a:ext cx="49149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05650" y="3486150"/>
            <a:ext cx="44958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角色与能力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829050"/>
            <a:ext cx="449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会员：选课 / 退课 / 签到（仅本人）</a:t>
            </a:r>
          </a:p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店长：以上 + 排课与课程维护</a:t>
            </a:r>
          </a:p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管理员：以上 + 数据重置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143500"/>
            <a:ext cx="11430000" cy="628650"/>
          </a:xfrm>
          <a:prstGeom prst="roundRect">
            <a:avLst>
              <a:gd name="adj" fmla="val 1212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143500"/>
            <a:ext cx="38100" cy="6286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143500"/>
            <a:ext cx="9144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联动价值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143500"/>
            <a:ext cx="101346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注册把潜在会员纳入系统；联动让门店一眼看清每门课的真实报名情况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A2 会员自助注册、G 会员↔课程余位联动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扫码签到与前端体验优化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28600"/>
            <a:ext cx="2857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03 关键实现与业务规则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914400"/>
            <a:ext cx="3619500" cy="4476750"/>
          </a:xfrm>
          <a:prstGeom prst="roundRect">
            <a:avLst>
              <a:gd name="adj" fmla="val 3157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heckin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1066800"/>
            <a:ext cx="3048000" cy="30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4210050"/>
            <a:ext cx="3238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图：真实二维码（现场可扫）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4514850"/>
            <a:ext cx="323850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二维码内容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GYM-CHECKIN:{预约号}:{会员号}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会员出示，门店扫码核销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0" y="914400"/>
            <a:ext cx="7620000" cy="2152650"/>
          </a:xfrm>
          <a:prstGeom prst="roundRect">
            <a:avLst>
              <a:gd name="adj" fmla="val 5309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0550" y="1066800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扫码签到闭环（取代原先"点一下就完事"）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447800"/>
            <a:ext cx="7429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1">
                <a:solidFill>
                  <a:srgbClr val="1E4FA8"/>
                </a:solidFill>
                <a:latin typeface="Microsoft YaHei"/>
              </a:rPr>
              <a:t>① 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0650" y="1447800"/>
            <a:ext cx="6381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在「我的预约」点扫码签到 → 弹出二维码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0550" y="1885950"/>
            <a:ext cx="7429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1">
                <a:solidFill>
                  <a:srgbClr val="1E4FA8"/>
                </a:solidFill>
                <a:latin typeface="Microsoft YaHei"/>
              </a:rPr>
              <a:t>② 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0650" y="1885950"/>
            <a:ext cx="6381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在「约课管理 → 扫码核销签到」扫描或粘贴内容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550" y="2324100"/>
            <a:ext cx="7429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1">
                <a:solidFill>
                  <a:srgbClr val="1E4FA8"/>
                </a:solidFill>
                <a:latin typeface="Microsoft YaHei"/>
              </a:rPr>
              <a:t>③ 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0650" y="2324100"/>
            <a:ext cx="6381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核销成功并记录渠道为扫码；重复核销返回状态冲突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3181350"/>
            <a:ext cx="7620000" cy="22098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550" y="3333750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前端体验优化（4 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3695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左侧导航 + 独立页面：会员 3 页 / 门店 8 页，按角色渲染菜单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0550" y="4076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身份选择登录：先选会员 / 店长 / 管理员，再输入账号密码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0550" y="4457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选课搜索：按课程名称 / 编号 / 教练 / 场地实时过滤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0550" y="483870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· 二维码由前端内嵌生成器产出，不依赖外部库，也不依赖网络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5505450"/>
            <a:ext cx="11430000" cy="609600"/>
          </a:xfrm>
          <a:prstGeom prst="roundRect">
            <a:avLst>
              <a:gd name="adj" fmla="val 12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5505450"/>
            <a:ext cx="38100" cy="60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505450"/>
            <a:ext cx="9144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5505450"/>
            <a:ext cx="101346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签到从"点一下"升级为完整闭环；前端从单页堆叠改为分角色导航，演示路径更清晰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J 扫码签到、H 身份与导航、I 搜索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第四部分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测试不只是"跑通了"：六层检查全部可复现，缺陷都能说出根因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六层检查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缺陷根因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防回归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244 项检查，覆盖七个层次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4000500" cy="4305300"/>
          </a:xfrm>
          <a:prstGeom prst="roundRect">
            <a:avLst>
              <a:gd name="adj" fmla="val 285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" y="1390650"/>
            <a:ext cx="3619500" cy="144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700" b="1">
                <a:solidFill>
                  <a:srgbClr val="0E3F8C"/>
                </a:solidFill>
                <a:latin typeface="Microsoft YaHei"/>
              </a:rPr>
              <a:t>244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914650"/>
            <a:ext cx="3619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项自动化检查全部通过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390900"/>
            <a:ext cx="3619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从单元测试到真实浏览器点击、再到二维码反解，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每一层都有可复现的执行命令与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报告文件，答辩现场可逐条演示。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0100" y="10287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700" y="10287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Java 单元 · 架构守卫 · 行为驱动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10287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0100" y="17526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8700" y="17526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集成测试（登录 / 权限 / 全流程）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7526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69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0100" y="24765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8700" y="24765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前端静态检查（防按钮无响应）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24765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0100" y="32004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8700" y="32004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真实浏览器测试（含身份与二维码）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32004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0100" y="39243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8700" y="39243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二维码结构校验（反解还原）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9243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0100" y="46482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8700" y="46482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 BDD + 接口冒烟（对照）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6482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 ／ 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测试要能挡住"点了没反应"这类问题，所以既做静态检查，也做真实浏览器点击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来源：五份测试报告文件（verify/ 与 app/ 目录）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15 个缺陷：把踩过的坑讲清楚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D9534F"/>
                </a:solidFill>
                <a:latin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严重缺陷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465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420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20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中等缺陷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83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78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4A5568"/>
                </a:solidFill>
                <a:latin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78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轻微缺陷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1950" y="1028700"/>
            <a:ext cx="3829050" cy="1104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全部已修复</a:t>
            </a:r>
          </a:p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并补充了防回归手段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23241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1500" y="26479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6479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严重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24574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账号初始化不幂等，后端第二次启动直接失败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28194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重复绑角色触发主键冲突，事务被标记回滚 → 改为 SQL 层幂等写入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344805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" y="377190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377190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358140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字符串预约号未加引号，按钮点了没反应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9700" y="394335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前端拼接事件参数时少了引号，被当成变量 → 修复并加静态检查永久防回归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45720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71500" y="48958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" y="48958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9700" y="47053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切换标签时的请求竞态，面板偶发空白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9700" y="50673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自动加载的旧响应覆盖了新结果 → 统一响应结构并丢弃过期响应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" y="5695950"/>
            <a:ext cx="11430000" cy="438150"/>
          </a:xfrm>
          <a:prstGeom prst="roundRect">
            <a:avLst>
              <a:gd name="adj" fmla="val 1739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1000" y="5695950"/>
            <a:ext cx="38100" cy="4381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5695950"/>
            <a:ext cx="9144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4950" y="5695950"/>
            <a:ext cx="101346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能复现、能定位、能防回归，缺陷才是资产；只写"已修复"等于没讲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缺陷记录章节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第五部分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做完的说清楚，没做完的也交代明白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已完成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没做完的部分，以及下一步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305300"/>
          </a:xfrm>
          <a:prstGeom prst="roundRect">
            <a:avLst>
              <a:gd name="adj" fmla="val 265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已完成并验证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S1 约课与签到主线（含取消与爽约惩罚）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550" y="23812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23812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S2 收费：下单、支付、回调幂等、异常订单、对账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" y="30861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50" y="30861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S4 预警：流失风险、爽约预测、新会员跟进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7909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7909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登录与角色鉴权（服务端强制，越权拦截已测）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" y="44958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050" y="44958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七层 244 项自动化检查 + 一键启动脚本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7100" y="10287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6650" y="12192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仅有表结构与骨架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6650" y="16192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S5 设备与工单：已完成数据库设计与迁移（V5），Java 侧仅保留模块骨架，尚未实现业务逻辑。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32766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6650" y="34671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完全未开始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6650" y="38671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真实微信支付对接（当前为 Mock 回调）、JWT 无状态令牌（当前为内存会话）、CI 流水线。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下一步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先补 S5 业务逻辑，再把会话改为 JWT，最后接入支付沙箱与 CI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来源：代码实现与测试报告 · 开放问题台账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19050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500" b="1">
                <a:solidFill>
                  <a:srgbClr val="0E3F8C"/>
                </a:solidFill>
                <a:latin typeface="Microsoft YaHei"/>
              </a:rPr>
              <a:t>谢谢聆听，请老师指正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8750" y="300990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3337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950" b="0">
                <a:solidFill>
                  <a:srgbClr val="1A2230"/>
                </a:solidFill>
                <a:latin typeface="Microsoft YaHei"/>
              </a:rPr>
              <a:t>需求可追溯 · 系统可运行 · 质量可复现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4191000"/>
            <a:ext cx="8763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项目文档与代码已托管至版本仓库，包含需求、设计、测试与运行手册；需要现场演示可随时切换。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3500" y="6096000"/>
            <a:ext cx="9525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 · 2026 年 10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